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各位评委好，我们的作品是 Word2JATS，面向学术论文从 Word 到 JATS XML 的结构化转换。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我们首先从 IMR Press 的多期刊和多文章类型理解需求。转换不仅要识别文字和图表，还要建立作者与单位、正文与文献等关联，最终交付可使用的 XML 和图片资源。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我们对十例样例统一清点内容。前五例有上线 XML，后五例只有 Word，因此以 Word 为内容依据，整理结构参考。评价按字段、对象和关系匹配，兼容不同但等价的 JATS 写法，并直接核对原文与资源。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我们比较了规则驱动、大模型辅助和智能体自主处理三条路线。规则快，但需要维护体例规则；智能体灵活，但多轮调用耗时难预测。我们选择第二条路线，让大模型理解上下文，由程序控制流程与输出。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总体流程先解析 Word，保留原稿位置；再由大模型判断结构。程序根据识别结果取回原文，组装 JATS 并检查，最后进入网页校订。文首元信息采用限定区域的局部 JATS 生成与专门校验。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以章节标题为例，大模型返回角色、位置与原文片段，程序再定位到实际原稿，取回文字并组装 XML。重复片段结合上下文和顺序消歧。同一位置记录继续用于内容检查与原稿对照。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不同载体分别处理：原生表格读取网格，文本排表恢复行列；原生公式转为 MathML，图像和复杂排版保留可读载体。参考文献先确定条目，再提取字段，正文引用与目标一起建立。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耗时优化主要依靠任务切分和依赖调度。文首、正文、文献边界和引文并行启动；文献边界一旦确认，就开始逐条字段提取，无需等待正文结束。长文分窗处理，所有 LLM 请求共享并发上限。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质量评价覆盖文首、正文、图表、公式、参考文献和关联关系。两种配置在主要对象上表现接近，表格网格与文献字段存在差异：本次 DeepSeek 的表格网格召回更高，Qwen 的文献字段召回更高。整体文字保留率均超过百分之九十九点七。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同一流程下，我们比较两种大模型配置。DeepSeek 平均约五十八秒，Qwen 约一百三十六秒；篇均调用费用分别约零点八四元和一点一八元。输入、输出与缓存用量均来自接口返回，按统一说明的计价口径折算。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网页支持内容预览、原稿对照和信息校订。题名、作者及机构信息可以修改，期刊和 DOI 可以补充。保存后更新的是实际 XML，预览和下载同步更新，让人工校订直接作用于交付成果。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下面通过在线原型展示从上传 Word，到查看、校订，再到下载 XML 和配套图片的完整过程。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ord2jats.jianglab.work" TargetMode="Externa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21792" y="1527048"/>
            <a:ext cx="86868" cy="3063240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" y="1581912"/>
            <a:ext cx="10058400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学术期刊结构化技术创新大赛 · 选题一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2304288"/>
            <a:ext cx="10607040" cy="914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8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Word2JATS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" y="3456432"/>
            <a:ext cx="10515600" cy="6583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4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面向学术出版的 Word 智能结构化转换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5312664"/>
            <a:ext cx="4572000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JiangLab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5824728"/>
            <a:ext cx="548640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2026 年 9 月 16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02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需求分析：多期刊、多文章类型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618488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77340"/>
            <a:ext cx="363931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业务范围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696"/>
            <a:ext cx="3639312" cy="1024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IMR Press 21 本期刊</a:t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作者指南与公开 Word 模板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3877056" cy="731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12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研究论文、综述、社论、病例报告、</a:t>
            </a:r>
          </a:p>
          <a:p>
            <a:pPr algn="l">
              <a:lnSpc>
                <a:spcPts val="2312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读者来信、手术技术等</a:t>
            </a:r>
          </a:p>
        </p:txBody>
      </p:sp>
      <p:pic>
        <p:nvPicPr>
          <p:cNvPr id="11" name="Picture 10" descr="hsf-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917926"/>
            <a:ext cx="3767328" cy="1436163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4681728" y="1636776"/>
            <a:ext cx="0" cy="3886200"/>
          </a:xfrm>
          <a:prstGeom prst="line">
            <a:avLst/>
          </a:prstGeom>
          <a:ln w="10160">
            <a:solidFill>
              <a:srgbClr val="DAE0E8"/>
            </a:solidFill>
          </a:ln>
          <a:effectLst/>
        </p:spPr>
      </p:cxnSp>
      <p:sp>
        <p:nvSpPr>
          <p:cNvPr id="13" name="Rectangle 12"/>
          <p:cNvSpPr/>
          <p:nvPr/>
        </p:nvSpPr>
        <p:spPr>
          <a:xfrm>
            <a:off x="5056632" y="1618488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577340"/>
            <a:ext cx="6300216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转换要求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139696"/>
            <a:ext cx="6300216" cy="91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313432"/>
            <a:ext cx="132588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内容识别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13432"/>
            <a:ext cx="4901184" cy="8961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题名、作者、摘要、关键词、章节、列表、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图表、公式、参考文献及文末声明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401568"/>
            <a:ext cx="132588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关系建立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401568"/>
            <a:ext cx="4901184" cy="8961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作者与单位、章节层级、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正文与图表、正文与文献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489704"/>
            <a:ext cx="132588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成果交付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489704"/>
            <a:ext cx="4901184" cy="8961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保留原文内容，建立 JATS 结构，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配齐图片资源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1792" y="5715000"/>
            <a:ext cx="10954512" cy="0"/>
          </a:xfrm>
          <a:prstGeom prst="line">
            <a:avLst/>
          </a:prstGeom>
          <a:ln w="17780">
            <a:solidFill>
              <a:srgbClr val="F2AD00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621792" y="5888736"/>
            <a:ext cx="10954512" cy="3566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Word 文档（.docx）  →  JATS Journal Publishing 1.3 XML ＋ 图片资源包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03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样例分析与结构参考构建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73736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6212"/>
            <a:ext cx="318211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样例组成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58568"/>
            <a:ext cx="3182112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01–05：5 例</a:t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Word 文档＋上线 XML</a:t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/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S01–S05：5 例</a:t>
            </a:r>
          </a:p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Word 文档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43984" y="173736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696212"/>
            <a:ext cx="318211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结构参考构建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258568"/>
            <a:ext cx="3182112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以 Word 原文确定内容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结合 JATS 规范整理结构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标注字段、对象及关联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/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上线 XML 辅助理解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出版标记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5" y="173736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1696212"/>
            <a:ext cx="3145536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评价方法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2258568"/>
            <a:ext cx="3145536" cy="3017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按内容与关系匹配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兼容等价的 JATS 表达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/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计算精确率与召回率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另行核对文字、原生公式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及图片资源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1792" y="5404104"/>
            <a:ext cx="10954512" cy="0"/>
          </a:xfrm>
          <a:prstGeom prst="line">
            <a:avLst/>
          </a:prstGeom>
          <a:ln w="12700">
            <a:solidFill>
              <a:srgbClr val="DAE0E8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6217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例样例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05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05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位作者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167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个章节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81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幅图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69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张表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5568696"/>
            <a:ext cx="1645920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525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6035040"/>
            <a:ext cx="1645920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条参考文献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04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技术选型：三类转换方案的比较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80160"/>
            <a:ext cx="10954512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大语言模型（LLM）用于理解上下文、识别内容角色与关系。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865376"/>
          <a:ext cx="1095451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108960"/>
                <a:gridCol w="3401568"/>
                <a:gridCol w="3163824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比较项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规则驱动转换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大模型辅助转换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智能体自主转换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  <a:tr h="74980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处理方式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规则识别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模板映射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程序编排，LLM 识别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程序生成 JATS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LLM 规划步骤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并调用工具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74980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主要优势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处理快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资源消耗低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上下文识别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与流程控制相结合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根据问题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动态调整处理路径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74980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主要代价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体例变化需要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维护识别规则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控制识别误差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与调用耗时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多轮调用，耗时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与资源更难预估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74980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适用特点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格式约束明确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体例稳定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内容类别明确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排版写法多样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处理步骤不确定</a:t>
                      </a:r>
                    </a:p>
                    <a:p>
                      <a:pPr algn="l">
                        <a:lnSpc>
                          <a:spcPts val="22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需要探索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21792" y="5614416"/>
            <a:ext cx="50292" cy="512064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5596128"/>
            <a:ext cx="10652760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本项目选择：大模型辅助转换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6016752"/>
            <a:ext cx="10652760" cy="2651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LLM 判断角色与关联，程序解析原稿、组织任务并生成 JATS XML。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05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总体流程：从 Word 解析到 JATS 输出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程序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240280"/>
            <a:ext cx="1993392" cy="2496312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2240280"/>
            <a:ext cx="1993392" cy="41148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Word 解析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文字、样式与编号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表格、图片与公式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记录原稿位置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42616" y="3337560"/>
            <a:ext cx="182880" cy="0"/>
          </a:xfrm>
          <a:prstGeom prst="line">
            <a:avLst/>
          </a:prstGeom>
          <a:ln w="1905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286207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LLM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62072" y="2240280"/>
            <a:ext cx="1993392" cy="2496312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62072" y="2240280"/>
            <a:ext cx="1993392" cy="411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语义识别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文首与正文层级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图表、文献及引文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识别角色与关系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82896" y="3337560"/>
            <a:ext cx="182880" cy="0"/>
          </a:xfrm>
          <a:prstGeom prst="line">
            <a:avLst/>
          </a:prstGeom>
          <a:ln w="1905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510235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程序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2240280"/>
            <a:ext cx="1993392" cy="2496312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02352" y="2240280"/>
            <a:ext cx="1993392" cy="41148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122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定位与组装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定位原文范围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组织章节与对象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连接引用关系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23176" y="3337560"/>
            <a:ext cx="182880" cy="0"/>
          </a:xfrm>
          <a:prstGeom prst="line">
            <a:avLst/>
          </a:prstGeom>
          <a:ln w="1905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734263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程序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42632" y="2240280"/>
            <a:ext cx="1993392" cy="2496312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42632" y="2240280"/>
            <a:ext cx="1993392" cy="41148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JATS 生成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生成 XML 与媒体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核对格式与引用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检查内容及资源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63456" y="3337560"/>
            <a:ext cx="182880" cy="0"/>
          </a:xfrm>
          <a:prstGeom prst="line">
            <a:avLst/>
          </a:prstGeom>
          <a:ln w="1905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9582912" y="1792224"/>
            <a:ext cx="1993392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网页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82912" y="2240280"/>
            <a:ext cx="1993392" cy="2496312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82912" y="2240280"/>
            <a:ext cx="1993392" cy="41148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01784" y="2578608"/>
            <a:ext cx="175564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校订与下载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3337560"/>
            <a:ext cx="1810512" cy="9875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预览与原稿对照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修改文章出版信息</a:t>
            </a:r>
          </a:p>
          <a:p>
            <a:pPr algn="ctr">
              <a:lnSpc>
                <a:spcPts val="248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下载转换成果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618488" y="4791456"/>
            <a:ext cx="0" cy="420624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618488" y="5212080"/>
            <a:ext cx="4480560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6099048" y="4791456"/>
            <a:ext cx="0" cy="420624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340864" y="5349240"/>
            <a:ext cx="4791456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原文与资源直接进入组装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5925312"/>
            <a:ext cx="10954512" cy="3291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文首题名、作者及机构信息：限定原稿区域生成局部 JATS，并作专门校验。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06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核心方法：LLM 识别结构，程序取回原文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847088"/>
            <a:ext cx="2907792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1847088"/>
            <a:ext cx="2907792" cy="466344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01952"/>
            <a:ext cx="2615184" cy="2926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原文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847088"/>
            <a:ext cx="3182112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49039" y="1847088"/>
            <a:ext cx="3182112" cy="466344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4" y="1901952"/>
            <a:ext cx="2889504" cy="2926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LLM 识别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847088"/>
            <a:ext cx="4425696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847088"/>
            <a:ext cx="4425696" cy="466344"/>
          </a:xfrm>
          <a:prstGeom prst="rect">
            <a:avLst/>
          </a:prstGeom>
          <a:solidFill>
            <a:srgbClr val="193B6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901952"/>
            <a:ext cx="4133087" cy="2926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程序组装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16352"/>
            <a:ext cx="2505456" cy="10515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2. Materials</a:t>
            </a:r>
          </a:p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and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1063" y="2688336"/>
            <a:ext cx="2816352" cy="13350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角色：章节标题</a:t>
            </a:r>
          </a:p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位置：doc/p30</a:t>
            </a:r>
          </a:p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原文片段：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1063" y="4133087"/>
            <a:ext cx="2843784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2. Materials and Methods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606040"/>
            <a:ext cx="4069080" cy="19019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&lt;sec id="S2"&gt;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  &lt;title&gt;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    2. Materials and Methods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  &lt;/title&gt;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  &lt;p&gt;……&lt;/p&gt;</a:t>
            </a:r>
          </a:p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93B67"/>
                </a:solidFill>
                <a:latin typeface="Consolas"/>
                <a:ea typeface="Microsoft YaHei"/>
                <a:cs typeface="Consolas"/>
              </a:rPr>
              <a:t>&lt;/sec&gt;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312664"/>
            <a:ext cx="10954512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2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精确匹配   →   表示差异归一化   →   上下文与顺序消歧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879592"/>
            <a:ext cx="10954512" cy="393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1"/>
              </a:lnSpc>
              <a:spcBef>
                <a:spcPts val="0"/>
              </a:spcBef>
              <a:spcAft>
                <a:spcPts val="0"/>
              </a:spcAft>
            </a:pPr>
            <a:r>
              <a:rPr sz="19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依据原稿位置取回标题、正文与文献字段，保留文字、行内格式及来源位置。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07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图表、公式与参考文献的转换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1664208"/>
          <a:ext cx="10954512" cy="4050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28"/>
                <a:gridCol w="5687568"/>
                <a:gridCol w="3328416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内容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处理方法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输出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原生表格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读取行列与合并关系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JATS 表格网格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文本排表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将原文片段分配到对应单元格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JATS 表格网格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图片与复合图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保留资源，关联图号、图注与子图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图对象与配套图片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数学公式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原生公式转 MathML；图像或复杂排版</a:t>
                      </a:r>
                    </a:p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公式保留可读载体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行内、行间公式及编号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参考文献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识别条目边界，再提取著录字段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结构化或混合著录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正文引用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按编号或作者—年份匹配目标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9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连接文献、图表的引用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" y="5971032"/>
            <a:ext cx="10954512" cy="365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对象内容、原文顺序与关联关系共同进入输出。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08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文档切分与并行调度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73936" y="3172968"/>
            <a:ext cx="182880" cy="0"/>
          </a:xfrm>
          <a:prstGeom prst="line">
            <a:avLst/>
          </a:prstGeom>
          <a:ln w="15875">
            <a:solidFill>
              <a:srgbClr val="193B67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1956816" y="2048256"/>
            <a:ext cx="0" cy="3227832"/>
          </a:xfrm>
          <a:prstGeom prst="line">
            <a:avLst/>
          </a:prstGeom>
          <a:ln w="15875">
            <a:solidFill>
              <a:srgbClr val="193B67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1956816" y="2048256"/>
            <a:ext cx="228600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1956816" y="3127248"/>
            <a:ext cx="228600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1956816" y="4197096"/>
            <a:ext cx="228600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1956816" y="5276088"/>
            <a:ext cx="228600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4050791" y="2048256"/>
            <a:ext cx="210313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4261104" y="2048256"/>
            <a:ext cx="0" cy="676656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4261104" y="2724912"/>
            <a:ext cx="256032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4050791" y="3127248"/>
            <a:ext cx="265177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4315968" y="2724912"/>
            <a:ext cx="0" cy="402336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4315968" y="2724912"/>
            <a:ext cx="201168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4050791" y="4197096"/>
            <a:ext cx="338329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4389120" y="2724912"/>
            <a:ext cx="0" cy="1472184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4389120" y="2724912"/>
            <a:ext cx="128016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4050791" y="4197096"/>
            <a:ext cx="201169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4251960" y="4197096"/>
            <a:ext cx="0" cy="301752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4251960" y="4498848"/>
            <a:ext cx="265176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6199632" y="2724912"/>
            <a:ext cx="365760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7333488" y="3127248"/>
            <a:ext cx="0" cy="1655064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199632" y="4498848"/>
            <a:ext cx="182880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6382512" y="4498848"/>
            <a:ext cx="0" cy="694944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6382512" y="5193792"/>
            <a:ext cx="182880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4050791" y="5276088"/>
            <a:ext cx="2029969" cy="0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6080760" y="5276088"/>
            <a:ext cx="0" cy="128016"/>
          </a:xfrm>
          <a:prstGeom prst="line">
            <a:avLst/>
          </a:prstGeom>
          <a:ln w="16510">
            <a:solidFill>
              <a:srgbClr val="193B67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6080760" y="5404104"/>
            <a:ext cx="484632" cy="0"/>
          </a:xfrm>
          <a:prstGeom prst="line">
            <a:avLst/>
          </a:prstGeom>
          <a:ln w="16510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621792" y="2779776"/>
            <a:ext cx="1152144" cy="786384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" y="2852928"/>
            <a:ext cx="1005840" cy="640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原稿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记录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85416" y="1664208"/>
            <a:ext cx="186537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76856" y="1755648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文首识别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76856" y="2084832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元信息与摘要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85416" y="2743200"/>
            <a:ext cx="186537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76856" y="2834640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正文识别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76856" y="3163824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角色、层级与图表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85416" y="3813048"/>
            <a:ext cx="186537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76856" y="3904487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文献边界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76856" y="4233672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条目定位与归并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85416" y="4892040"/>
            <a:ext cx="186537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76856" y="4983479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正文引文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76856" y="5312664"/>
            <a:ext cx="168249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位置与目标线索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17136" y="2340864"/>
            <a:ext cx="168249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90288" y="2414016"/>
            <a:ext cx="1536192" cy="6217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内容角色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归并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65392" y="2340864"/>
            <a:ext cx="1536192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38544" y="2414016"/>
            <a:ext cx="1389888" cy="6217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文本表格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恢复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17136" y="4114800"/>
            <a:ext cx="1682496" cy="768096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08576" y="4206240"/>
            <a:ext cx="149961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文献字段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08576" y="4535424"/>
            <a:ext cx="1499616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11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各条并行提取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65392" y="4782312"/>
            <a:ext cx="1536192" cy="841248"/>
          </a:xfrm>
          <a:prstGeom prst="rect">
            <a:avLst/>
          </a:prstGeom>
          <a:solidFill>
            <a:srgbClr val="F3F6FA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38544" y="4855464"/>
            <a:ext cx="1389888" cy="6949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最终组装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与检查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476488" y="1719072"/>
            <a:ext cx="0" cy="4178808"/>
          </a:xfrm>
          <a:prstGeom prst="line">
            <a:avLst/>
          </a:prstGeom>
          <a:ln w="12700">
            <a:solidFill>
              <a:srgbClr val="DAE0E8"/>
            </a:solidFill>
          </a:ln>
          <a:effectLst/>
        </p:spPr>
      </p:cxnSp>
      <p:sp>
        <p:nvSpPr>
          <p:cNvPr id="57" name="Rectangle 56"/>
          <p:cNvSpPr/>
          <p:nvPr/>
        </p:nvSpPr>
        <p:spPr>
          <a:xfrm>
            <a:off x="8750808" y="1856231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06256" y="1815084"/>
            <a:ext cx="263347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长文处理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256" y="2377440"/>
            <a:ext cx="2633472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按输入预算分窗</a:t>
            </a:r>
          </a:p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保留相邻上下文</a:t>
            </a:r>
          </a:p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按原稿位置归并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50808" y="4032504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06256" y="3991356"/>
            <a:ext cx="2633472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并发控制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6256" y="4553712"/>
            <a:ext cx="2633472" cy="10424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LLM 并发上限：32</a:t>
            </a:r>
          </a:p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异常请求限次重试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09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转换质量：内容、结构与关系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80160"/>
            <a:ext cx="10954512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10 例样例 · 两种大模型配置的分项召回率与完整性检查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792224"/>
          <a:ext cx="10954512" cy="444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7104"/>
                <a:gridCol w="2203704"/>
                <a:gridCol w="2203704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评价项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Qwen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8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DeepSeek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题名、作者及单位关联、通讯信息、ORCID、日期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摘要、关键词、章节及顺序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术语释义与文末声明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图对象、图注、图片归属与图表引用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各项 100%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表对象、表题 / 表注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100% / 93.94%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100% / 93.94%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表格网格位置与内容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77.34%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93.26%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原生公式数学树 / 公式图片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26/26；2/2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26/26；2/2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文献条目 / 文献著录字段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100% / 99.06%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100% / 96.83%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正文—文献引用关系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92.41%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94.12%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全文词项保留率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99.73%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99.71%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JATS DTD 合法文档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10/10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10/10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37413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导出媒体原字节一致性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50/50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19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5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50/50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10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转换效率与调用成本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80160"/>
            <a:ext cx="10954512" cy="3383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10 例样例 · Qwen 与 DeepSeek 两种大模型配置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1792224"/>
          <a:ext cx="10954512" cy="4426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2834640"/>
                <a:gridCol w="3255264"/>
                <a:gridCol w="3255264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类别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指标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Qwen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39" b="1" lang="zh-CN">
                          <a:solidFill>
                            <a:srgbClr val="FFFFFF"/>
                          </a:solidFill>
                          <a:latin typeface="Arial"/>
                          <a:ea typeface="Microsoft YaHei"/>
                          <a:cs typeface="Arial"/>
                        </a:rPr>
                        <a:t>DeepSeek</a:t>
                      </a:r>
                    </a:p>
                  </a:txBody>
                  <a:tcPr marL="118872" marR="118872" marT="32004" marB="32004" anchor="ctr">
                    <a:solidFill>
                      <a:srgbClr val="193B67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15240">
                      <a:solidFill>
                        <a:srgbClr val="193B67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  <a:tr h="366674">
                <a:tc rowSpan="2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大模型配置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主流程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qwen3.7-plus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deepseek-flash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文首元信息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qwen3.8-max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deepseek-flash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rowSpan="2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转换耗时</a:t>
                      </a:r>
                    </a:p>
                    <a:p>
                      <a:pPr algn="l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秒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平均值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135.90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58.27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中位数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92.31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27.34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rowSpan="5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Token 用量</a:t>
                      </a:r>
                    </a:p>
                    <a:p>
                      <a:pPr algn="l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 例合计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输入合计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5,815,531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5,302,342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  其中：缓存命中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2,660,992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5,175,210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  其中：缓存未命中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3,154,539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127,132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输出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928,179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993,918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输入＋输出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6,743,710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6,296,260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5715">
                      <a:solidFill>
                        <a:srgbClr val="DAE0E8"/>
                      </a:solidFill>
                    </a:lnB>
                  </a:tcPr>
                </a:tc>
              </a:tr>
              <a:tr h="366674">
                <a:tc rowSpan="2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调用费用</a:t>
                      </a:r>
                    </a:p>
                    <a:p>
                      <a:pPr algn="l">
                        <a:lnSpc>
                          <a:spcPts val="195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元（折算）</a:t>
                      </a:r>
                    </a:p>
                  </a:txBody>
                  <a:tcPr marL="118872" marR="118872" marT="32004" marB="32004" anchor="ctr">
                    <a:solidFill>
                      <a:srgbClr val="F3F6FA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篇均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1.1839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0.8413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B w="5715">
                      <a:solidFill>
                        <a:srgbClr val="DAE0E8"/>
                      </a:solidFill>
                    </a:lnB>
                    <a:lnT w="12700">
                      <a:solidFill>
                        <a:srgbClr val="9EAEC2"/>
                      </a:solidFill>
                    </a:lnT>
                  </a:tcPr>
                </a:tc>
              </a:tr>
              <a:tr h="366674">
                <a:tc vMerge="1"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/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10 例合计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11.8391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lang="zh-CN">
                          <a:solidFill>
                            <a:srgbClr val="171717"/>
                          </a:solidFill>
                          <a:latin typeface="Arial"/>
                          <a:ea typeface="Microsoft YaHei"/>
                          <a:cs typeface="Arial"/>
                        </a:rPr>
                        <a:t>8.4126</a:t>
                      </a:r>
                    </a:p>
                  </a:txBody>
                  <a:tcPr marL="118872" marR="118872" marT="32004" marB="32004" anchor="ctr">
                    <a:solidFill>
                      <a:srgbClr val="FFFFFF"/>
                    </a:solidFill>
                    <a:lnL w="5715">
                      <a:solidFill>
                        <a:srgbClr val="DAE0E8"/>
                      </a:solidFill>
                    </a:lnL>
                    <a:lnR w="5715">
                      <a:solidFill>
                        <a:srgbClr val="DAE0E8"/>
                      </a:solidFill>
                    </a:lnR>
                    <a:lnT w="5715">
                      <a:solidFill>
                        <a:srgbClr val="DAE0E8"/>
                      </a:solidFill>
                    </a:lnT>
                    <a:lnB w="13970">
                      <a:solidFill>
                        <a:srgbClr val="193B6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11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原稿对照与信息校订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1673352"/>
            <a:ext cx="7735824" cy="4562856"/>
          </a:xfrm>
          <a:prstGeom prst="rect">
            <a:avLst/>
          </a:prstGeom>
          <a:solidFill>
            <a:srgbClr val="FFFFFF"/>
          </a:solidFill>
          <a:ln w="8890">
            <a:solidFill>
              <a:srgbClr val="DAE0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-pub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" y="1976231"/>
            <a:ext cx="7671816" cy="395709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41664" y="182880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7112" y="1787652"/>
            <a:ext cx="2624328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预览与定位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7112" y="2350008"/>
            <a:ext cx="2624328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按章节、图表、公式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和文献浏览结果，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查看引用目标。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41664" y="3346703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97112" y="3305556"/>
            <a:ext cx="2624328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对照与修改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7112" y="3867911"/>
            <a:ext cx="2624328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对照 Word 原稿，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修改题名、作者与机构，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补充期刊和 DOI。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41664" y="4846320"/>
            <a:ext cx="41148" cy="265176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7112" y="4805172"/>
            <a:ext cx="2624328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保存与交付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7112" y="5367527"/>
            <a:ext cx="2624328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修改写入 XML；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重新检查，预览与</a:t>
            </a:r>
          </a:p>
          <a:p>
            <a:pPr algn="l">
              <a:lnSpc>
                <a:spcPts val="2183"/>
              </a:lnSpc>
              <a:spcBef>
                <a:spcPts val="0"/>
              </a:spcBef>
              <a:spcAft>
                <a:spcPts val="0"/>
              </a:spcAft>
            </a:pPr>
            <a:r>
              <a:rPr sz="185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下载同步更新。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"/>
            <a:ext cx="137160" cy="612648"/>
          </a:xfrm>
          <a:prstGeom prst="rect">
            <a:avLst/>
          </a:prstGeom>
          <a:solidFill>
            <a:srgbClr val="F2A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slide-12-title"/>
          <p:cNvSpPr txBox="1"/>
          <p:nvPr/>
        </p:nvSpPr>
        <p:spPr>
          <a:xfrm>
            <a:off x="621792" y="521207"/>
            <a:ext cx="10954512" cy="685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48"/>
              </a:lnSpc>
              <a:spcBef>
                <a:spcPts val="0"/>
              </a:spcBef>
              <a:spcAft>
                <a:spcPts val="0"/>
              </a:spcAft>
            </a:pPr>
            <a:r>
              <a:rPr sz="36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在线演示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21792" y="6428232"/>
            <a:ext cx="10954512" cy="0"/>
          </a:xfrm>
          <a:prstGeom prst="line">
            <a:avLst/>
          </a:prstGeom>
          <a:ln w="7620">
            <a:solidFill>
              <a:srgbClr val="E7EBF0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621792" y="6519672"/>
            <a:ext cx="6400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Word2JATS  ·  JiangLab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501384"/>
            <a:ext cx="484632" cy="237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29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9616B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709928"/>
            <a:ext cx="10954512" cy="7132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955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Word2JATS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916936"/>
            <a:ext cx="502920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7864" y="2880360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上传 Word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54096" y="3127248"/>
            <a:ext cx="283464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456432" y="2916936"/>
            <a:ext cx="502920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2504" y="2880360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转换与预览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88736" y="3127248"/>
            <a:ext cx="283464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291072" y="2916936"/>
            <a:ext cx="502920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7144" y="2880360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对照与校订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23376" y="3127248"/>
            <a:ext cx="283464" cy="0"/>
          </a:xfrm>
          <a:prstGeom prst="line">
            <a:avLst/>
          </a:prstGeom>
          <a:ln w="15875">
            <a:solidFill>
              <a:srgbClr val="193B67"/>
            </a:solidFill>
            <a:tailEnd type="triangle" w="sm" len="sm"/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9125712" y="2916936"/>
            <a:ext cx="502920" cy="4023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zh-CN">
                <a:solidFill>
                  <a:srgbClr val="193B67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1784" y="2880360"/>
            <a:ext cx="1965960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下载成果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792" y="3767328"/>
            <a:ext cx="10954512" cy="0"/>
          </a:xfrm>
          <a:prstGeom prst="line">
            <a:avLst/>
          </a:prstGeom>
          <a:ln w="15875">
            <a:solidFill>
              <a:srgbClr val="F2AD00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621792" y="4160520"/>
            <a:ext cx="192024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交付文件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160520"/>
            <a:ext cx="8823960" cy="4297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5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JATS XML ＋ 图片资源包 figures.zip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157216"/>
            <a:ext cx="1920240" cy="384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zh-CN">
                <a:solidFill>
                  <a:srgbClr val="171717"/>
                </a:solidFill>
                <a:latin typeface="Arial"/>
                <a:ea typeface="Microsoft YaHei"/>
                <a:cs typeface="Arial"/>
              </a:rPr>
              <a:t>在线原型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111496"/>
            <a:ext cx="8823960" cy="5577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4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lang="zh-CN">
                <a:solidFill>
                  <a:srgbClr val="193B67"/>
                </a:solidFill>
                <a:latin typeface="Arial"/>
                <a:ea typeface="Microsoft YaHei"/>
                <a:cs typeface="Arial"/>
                <a:hlinkClick r:id="rId2"/>
              </a:rPr>
              <a:t>word2jats.jianglab.work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Word2JATS｜决赛答辩</dc:title>
  <dc:subject>Word 稿件的 JATS 结构化转换</dc:subject>
  <dc:creator>JiangLab</dc:creator>
  <cp:keywords>Word2JATS, JATS, JiangLab</cp:keywords>
  <dc:description/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