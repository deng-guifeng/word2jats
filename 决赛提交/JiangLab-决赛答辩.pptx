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25 秒：我们关注的不是把文档换个后缀，而是把论文隐含的结构转为出版系统可用的数据，同时让编辑能够核对。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55 秒解释分工。重点说明模型摘抄只是定位线索，最终文字从 Word 取回。文首是明确的例外，用检查约束，不声称模型完全不生成文字。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50 秒说明文献、公式、并发和双向内容检查。避免逐个背模块名，把技术与真实内容对应起来。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40 秒报告结果。公式检查核对全部变换节点，不把文本检查说成数学语义形式证明。速度是逐篇冷跑，长稿仍可能超过五分钟。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75 秒切到真实工作台演示。若复用响应，明确指给评委看“复用已有分析”。展示原文摘录、处理状态和记录随包导出，人工记录不覆盖自动检查。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25 秒收束：不是承诺替代所有编辑判断，而是自动完成可确定的工作，清楚交接剩余问题。当前未量化编辑节省百分比，不虚报。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6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73B3D"/>
                </a:solidFill>
                <a:latin typeface="Noto Sans CJK SC"/>
              </a:defRPr>
            </a:pPr>
            <a:r>
              <a:t>让 Word 稿件成为可核对的出版数据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647572"/>
                </a:solidFill>
                <a:latin typeface="Noto Sans CJK SC"/>
              </a:defRPr>
            </a:pPr>
            <a:r>
              <a:t>学术期刊结构化技术创新大赛 · 选题一 · JiangLab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41908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47572"/>
                </a:solidFill>
                <a:latin typeface="Noto Sans CJK SC"/>
              </a:defRPr>
            </a:pPr>
            <a:r>
              <a:t>JiangLab  /  word2jats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47572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5600" b="1">
                <a:solidFill>
                  <a:srgbClr val="14666B"/>
                </a:solidFill>
                <a:latin typeface="Noto Sans CJK SC"/>
              </a:defRPr>
            </a:pPr>
            <a:r>
              <a:t>word2jats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37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0">
                <a:solidFill>
                  <a:srgbClr val="173B3D"/>
                </a:solidFill>
                <a:latin typeface="Noto Sans CJK SC"/>
              </a:defRPr>
            </a:pPr>
            <a:r>
              <a:t>模型理解结构，程序取回原文，编辑确认结果。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091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173B3D"/>
                </a:solidFill>
                <a:latin typeface="Noto Sans CJK SC"/>
              </a:defRPr>
            </a:pPr>
            <a:r>
              <a:t>Word → JATS 1.3 XML + 原始图片 + 校样与复核记录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6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73B3D"/>
                </a:solidFill>
                <a:latin typeface="Noto Sans CJK SC"/>
              </a:defRPr>
            </a:pPr>
            <a:r>
              <a:t>把结构判断与内容取回分开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647572"/>
                </a:solidFill>
                <a:latin typeface="Noto Sans CJK SC"/>
              </a:defRPr>
            </a:pPr>
            <a:r>
              <a:t>源对象图记录原稿事实，模型回答用于定位与结构组织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41908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47572"/>
                </a:solidFill>
                <a:latin typeface="Noto Sans CJK SC"/>
              </a:defRPr>
            </a:pPr>
            <a:r>
              <a:t>JiangLab  /  word2jats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47572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606040" cy="2560320"/>
          </a:xfrm>
          <a:prstGeom prst="roundRect">
            <a:avLst/>
          </a:prstGeom>
          <a:solidFill>
            <a:srgbClr val="ED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4666B"/>
                </a:solidFill>
                <a:latin typeface="Noto Sans CJK SC"/>
              </a:defRPr>
            </a:pPr>
            <a:r>
              <a:t>原稿事实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27248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文字范围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图表与公式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格式与编号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2286000"/>
            <a:ext cx="2606040" cy="2560320"/>
          </a:xfrm>
          <a:prstGeom prst="roundRect">
            <a:avLst/>
          </a:prstGeom>
          <a:solidFill>
            <a:srgbClr val="ED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24688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4666B"/>
                </a:solidFill>
                <a:latin typeface="Noto Sans CJK SC"/>
              </a:defRPr>
            </a:pPr>
            <a:r>
              <a:t>结构理解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3127248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文首与正文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文献与引文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表格列结构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286000"/>
            <a:ext cx="2606040" cy="2560320"/>
          </a:xfrm>
          <a:prstGeom prst="roundRect">
            <a:avLst/>
          </a:prstGeom>
          <a:solidFill>
            <a:srgbClr val="ED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24688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4666B"/>
                </a:solidFill>
                <a:latin typeface="Noto Sans CJK SC"/>
              </a:defRPr>
            </a:pPr>
            <a:r>
              <a:t>确定性生成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3127248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按源位置取字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组装 JATS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输出原始媒体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59" y="2286000"/>
            <a:ext cx="2606040" cy="2560320"/>
          </a:xfrm>
          <a:prstGeom prst="roundRect">
            <a:avLst/>
          </a:prstGeom>
          <a:solidFill>
            <a:srgbClr val="ED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7463" y="24688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4666B"/>
                </a:solidFill>
                <a:latin typeface="Noto Sans CJK SC"/>
              </a:defRPr>
            </a:pPr>
            <a:r>
              <a:t>检查与核对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7463" y="3127248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内容覆盖与来源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DTD 与引用</a:t>
            </a:r>
          </a:p>
          <a:p>
            <a:pPr>
              <a:spcAft>
                <a:spcPts val="1400"/>
              </a:spcAft>
              <a:defRPr sz="2000" b="0">
                <a:solidFill>
                  <a:srgbClr val="173B3D"/>
                </a:solidFill>
                <a:latin typeface="Noto Sans CJK SC"/>
              </a:defRPr>
            </a:pPr>
            <a:r>
              <a:t>编辑复核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3095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647572"/>
                </a:solidFill>
                <a:latin typeface="Noto Sans CJK SC"/>
              </a:defRPr>
            </a:pPr>
            <a:r>
              <a:t>文首元信息采用受约束的局部 JATS 生成；正文与文献按源位置取回。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6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73B3D"/>
                </a:solidFill>
                <a:latin typeface="Noto Sans CJK SC"/>
              </a:defRPr>
            </a:pPr>
            <a:r>
              <a:t>围绕出版内容做结构化处理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647572"/>
                </a:solidFill>
                <a:latin typeface="Noto Sans CJK SC"/>
              </a:defRPr>
            </a:pPr>
            <a:r>
              <a:t>不只检查 XML 能否打开，还检查内容去向与对象关系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41908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47572"/>
                </a:solidFill>
                <a:latin typeface="Noto Sans CJK SC"/>
              </a:defRPr>
            </a:pPr>
            <a:r>
              <a:t>JiangLab  /  word2jats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47572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参考文献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两路识别条目边界，逐条并行拆字段；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字段不完整时保留整条原文。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公式与媒体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OMML 转 MathML，图像按原字节交付；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不凭图片猜出论文内容。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处理效率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引文、正文、文献边界同时推进；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后续任务只等待真正需要的输入。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9768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内容检查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原稿内容去了哪里，输出内容来自哪里；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不确定项交给有原文依据的复核。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6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73B3D"/>
                </a:solidFill>
                <a:latin typeface="Noto Sans CJK SC"/>
              </a:defRPr>
            </a:pPr>
            <a:r>
              <a:t>14 例完整转换验证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647572"/>
                </a:solidFill>
                <a:latin typeface="Noto Sans CJK SC"/>
              </a:defRPr>
            </a:pPr>
            <a:r>
              <a:t>10 例官方样例 + 4 例初赛评委测试稿；均已用于开发，不作为独立盲测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41908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47572"/>
                </a:solidFill>
                <a:latin typeface="Noto Sans CJK SC"/>
              </a:defRPr>
            </a:pPr>
            <a:r>
              <a:t>JiangLab  /  word2jats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47572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800" b="1">
                <a:solidFill>
                  <a:srgbClr val="14666B"/>
                </a:solidFill>
                <a:latin typeface="Noto Sans CJK SC"/>
              </a:defRPr>
            </a:pPr>
            <a:r>
              <a:t>14/14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B3D"/>
                </a:solidFill>
                <a:latin typeface="Noto Sans CJK SC"/>
              </a:defRPr>
            </a:pPr>
            <a:r>
              <a:t>JATS DTD 合法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3591" y="20574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800" b="1">
                <a:solidFill>
                  <a:srgbClr val="14666B"/>
                </a:solidFill>
                <a:latin typeface="Noto Sans CJK SC"/>
              </a:defRPr>
            </a:pPr>
            <a:r>
              <a:t>10/10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1" y="32004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B3D"/>
                </a:solidFill>
                <a:latin typeface="Noto Sans CJK SC"/>
              </a:defRPr>
            </a:pPr>
            <a:r>
              <a:t>官方样例</a:t>
            </a:r>
          </a:p>
          <a:p>
            <a:pPr>
              <a:spcAft>
                <a:spcPts val="1400"/>
              </a:spcAft>
              <a:defRPr sz="1900" b="0">
                <a:solidFill>
                  <a:srgbClr val="173B3D"/>
                </a:solidFill>
                <a:latin typeface="Noto Sans CJK SC"/>
              </a:defRPr>
            </a:pPr>
            <a:r>
              <a:t>自动检查通过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574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800" b="1">
                <a:solidFill>
                  <a:srgbClr val="14666B"/>
                </a:solidFill>
                <a:latin typeface="Noto Sans CJK SC"/>
              </a:defRPr>
            </a:pPr>
            <a:r>
              <a:t>692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2004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B3D"/>
                </a:solidFill>
                <a:latin typeface="Noto Sans CJK SC"/>
              </a:defRPr>
            </a:pPr>
            <a:r>
              <a:t>参考文献条目</a:t>
            </a:r>
          </a:p>
          <a:p>
            <a:pPr>
              <a:spcAft>
                <a:spcPts val="1400"/>
              </a:spcAft>
              <a:defRPr sz="1900" b="0">
                <a:solidFill>
                  <a:srgbClr val="173B3D"/>
                </a:solidFill>
                <a:latin typeface="Noto Sans CJK SC"/>
              </a:defRPr>
            </a:pPr>
            <a:r>
              <a:t>逐例数量核对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17736" y="20574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800" b="1">
                <a:solidFill>
                  <a:srgbClr val="14666B"/>
                </a:solidFill>
                <a:latin typeface="Noto Sans CJK SC"/>
              </a:defRPr>
            </a:pPr>
            <a: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17736" y="32004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B3D"/>
                </a:solidFill>
                <a:latin typeface="Noto Sans CJK SC"/>
              </a:defRPr>
            </a:pPr>
            <a:r>
              <a:t>OMML 公式</a:t>
            </a:r>
          </a:p>
          <a:p>
            <a:pPr>
              <a:spcAft>
                <a:spcPts val="1400"/>
              </a:spcAft>
              <a:defRPr sz="1900" b="0">
                <a:solidFill>
                  <a:srgbClr val="173B3D"/>
                </a:solidFill>
                <a:latin typeface="Noto Sans CJK SC"/>
              </a:defRPr>
            </a:pPr>
            <a:r>
              <a:t>转换文本完整核对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73B3D"/>
                </a:solidFill>
                <a:latin typeface="Noto Sans CJK SC"/>
              </a:defRPr>
            </a:pPr>
            <a:r>
              <a:t>逐篇全新调用：39–340 秒，中位数 72 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1383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647572"/>
                </a:solidFill>
                <a:latin typeface="Noto Sans CJK SC"/>
              </a:defRPr>
            </a:pPr>
            <a:r>
              <a:t>自动通过不等于排版已无需校订；复杂压平表格、旧式对象等仍进入人工核对。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6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73B3D"/>
                </a:solidFill>
                <a:latin typeface="Noto Sans CJK SC"/>
              </a:defRPr>
            </a:pPr>
            <a:r>
              <a:t>校样工作台：让剩余工作可定位、可记录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647572"/>
                </a:solidFill>
                <a:latin typeface="Noto Sans CJK SC"/>
              </a:defRPr>
            </a:pPr>
            <a:r>
              <a:t>现场演示：上传 → 成品预览 → 原稿核对 → 保存复核 → 下载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41908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47572"/>
                </a:solidFill>
                <a:latin typeface="Noto Sans CJK SC"/>
              </a:defRPr>
            </a:pPr>
            <a:r>
              <a:t>JiangLab  /  word2jats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47572"/>
                </a:solidFill>
                <a:latin typeface="Noto Sans CJK SC"/>
              </a:defRPr>
            </a:pPr>
            <a:r>
              <a:t>05</a:t>
            </a:r>
          </a:p>
        </p:txBody>
      </p:sp>
      <p:pic>
        <p:nvPicPr>
          <p:cNvPr id="7" name="Picture 6" descr="工作台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650185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2377440"/>
            <a:ext cx="4114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73B3D"/>
                </a:solidFill>
                <a:latin typeface="Noto Sans CJK SC"/>
              </a:defRPr>
            </a:pPr>
            <a:r>
              <a:t>对应原稿摘录</a:t>
            </a:r>
          </a:p>
          <a:p>
            <a:pPr>
              <a:spcAft>
                <a:spcPts val="1400"/>
              </a:spcAft>
              <a:defRPr sz="2500" b="0">
                <a:solidFill>
                  <a:srgbClr val="173B3D"/>
                </a:solidFill>
                <a:latin typeface="Noto Sans CJK SC"/>
              </a:defRPr>
            </a:pPr>
            <a:r>
              <a:t>逐项处理结论</a:t>
            </a:r>
          </a:p>
          <a:p>
            <a:pPr>
              <a:spcAft>
                <a:spcPts val="1400"/>
              </a:spcAft>
              <a:defRPr sz="2500" b="0">
                <a:solidFill>
                  <a:srgbClr val="173B3D"/>
                </a:solidFill>
                <a:latin typeface="Noto Sans CJK SC"/>
              </a:defRPr>
            </a:pPr>
            <a:r>
              <a:t>记录针对的 XML 版本</a:t>
            </a:r>
          </a:p>
          <a:p>
            <a:pPr>
              <a:spcAft>
                <a:spcPts val="1400"/>
              </a:spcAft>
              <a:defRPr sz="2500" b="0">
                <a:solidFill>
                  <a:srgbClr val="173B3D"/>
                </a:solidFill>
                <a:latin typeface="Noto Sans CJK SC"/>
              </a:defRPr>
            </a:pPr>
            <a:r>
              <a:t>修订 Word 后再转换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6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73B3D"/>
                </a:solidFill>
                <a:latin typeface="Noto Sans CJK SC"/>
              </a:defRPr>
            </a:pPr>
            <a:r>
              <a:t>从一次转换，走向可复核的编辑流程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647572"/>
                </a:solidFill>
                <a:latin typeface="Noto Sans CJK SC"/>
              </a:defRPr>
            </a:pPr>
            <a:r>
              <a:t>已有可运行原型、源代码、14 例输入输出、运行文档与离线成果预览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41908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47572"/>
                </a:solidFill>
                <a:latin typeface="Noto Sans CJK SC"/>
              </a:defRPr>
            </a:pPr>
            <a:r>
              <a:t>JiangLab  /  word2jats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47572"/>
                </a:solidFill>
                <a:latin typeface="Noto Sans CJK SC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 b="1">
                <a:solidFill>
                  <a:srgbClr val="14666B"/>
                </a:solidFill>
                <a:latin typeface="Noto Sans CJK SC"/>
              </a:defRPr>
            </a:pPr>
            <a:r>
              <a:t>减少全文重新标注，把编辑注意力集中到疑难内容。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已实现：原文定位、自动结构化、结果预览、复核记录与导出。</a:t>
            </a:r>
          </a:p>
          <a:p>
            <a:pPr>
              <a:spcAft>
                <a:spcPts val="1400"/>
              </a:spcAft>
              <a:defRPr sz="2400" b="0">
                <a:solidFill>
                  <a:srgbClr val="173B3D"/>
                </a:solidFill>
                <a:latin typeface="Noto Sans CJK SC"/>
              </a:defRPr>
            </a:pPr>
            <a:r>
              <a:t>下一步：以真实编辑处理时长检验效率，扩展复杂表格和旧式对象支持。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647572"/>
                </a:solidFill>
                <a:latin typeface="Noto Sans CJK SC"/>
              </a:defRPr>
            </a:pPr>
            <a:r>
              <a:t>word2jats.jianglab.work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word2jats 决赛答辩</dc:title>
  <dc:subject/>
  <dc:creator>JiangLab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