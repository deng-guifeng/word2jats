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33"/>
  </p:notesMasterIdLst>
  <p:handoutMasterIdLst>
    <p:handoutMasterId r:id="rId34"/>
  </p:handoutMasterIdLst>
  <p:sldIdLst>
    <p:sldId id="257" r:id="rId4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6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各位评委好，我们的作品是 Word2JATS，面向学术论文从 Word 到 JATS XML 的结构化转换。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我们从二十一本期刊及其文章类型理解需求。问题定义是：输入 Word 文档，输出符合 JATS 1.3 的 XML 和 ZIP 附属资源包。核心不只是识别内容，还包括章节结构、作者单位及图表文献之间的关联。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我们对十例样例统一清点内容。前五例有上线 XML，后五例只有 Word，因此以 Word 为内容依据，整理结构参考。评价按字段、对象和关系匹配，兼容不同但等价的 JATS 写法，并直接核对原文与资源。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我们比较了规则驱动、大模型辅助和智能体自主处理三条路线。规则快，但需要维护体例规则；智能体灵活，但多轮调用耗时难预测。我们选择第二条路线，让大模型理解上下文，由程序控制流程与输出。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总体流程先解析 Word，保留原稿位置；再由大模型判断结构。程序根据识别结果取回原文，组装 JATS 并检查，最后进入网页校订。文首元信息采用限定区域的局部 JATS 生成与专门校验。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以章节标题为例，大模型返回角色、位置与原文片段，程序再定位到实际原稿，取回文字并组装 XML。重复片段结合上下文和顺序消歧。同一位置记录继续用于内容检查与原稿对照。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不同载体分别处理：原生表格读取网格，文本排表恢复行列；原生公式转为 MathML，图像和复杂排版保留可读载体。参考文献先确定条目，再提取字段，正文引用与目标一起建立。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耗时优化主要依靠任务切分和依赖调度。文首、正文、文献边界和引文并行启动；文献边界一旦确认，就开始逐条字段提取，无需等待正文结束。长文分窗处理，所有 LLM 请求共享并发上限。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质量评价覆盖文首、正文、图表、公式、参考文献和关联关系。两种配置在主要对象上表现接近，表格网格与文献字段存在差异：本次 DeepSeek 的表格网格召回更高，Qwen 的文献字段召回更高。整体文字保留率均超过百分之九十九点七。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同一流程下，我们比较两种大模型配置。DeepSeek 平均约五十八秒，Qwen 约一百三十六秒；篇均调用费用分别约零点八四元和一点一八元。输入、输出与缓存用量均来自接口返回，按统一说明的计价口径折算。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网页支持内容预览、原稿对照和信息校订。题名、作者及机构信息可以修改，期刊和 DOI 可以补充。保存后更新的是实际 XML，预览和下载同步更新，让人工校订直接作用于交付成果。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下面通过在线原型展示从上传 Word，到查看、校订，再到下载 XML 和配套图片的完整过程。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谢谢各位评委。欢迎提问。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3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private/var/folders/y9/jtrm72c94tq2wcj68hk011w00000gn/T/com.kingsoft.wpsoffice.mac/figmazip/slide_69e57ab2083bd459/datas/氛围图-10001&amp;65290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5" name="任意多边形 4"/>
          <p:cNvSpPr/>
          <p:nvPr userDrawn="1"/>
        </p:nvSpPr>
        <p:spPr>
          <a:xfrm>
            <a:off x="0" y="2336804"/>
            <a:ext cx="12191365" cy="2105025"/>
          </a:xfrm>
          <a:custGeom>
            <a:avLst/>
            <a:gdLst>
              <a:gd name="connisteX0" fmla="*/ 0 w 12191996"/>
              <a:gd name="connsiteY0" fmla="*/ 1290547 h 2105341"/>
              <a:gd name="connisteX1" fmla="*/ 0 w 12191996"/>
              <a:gd name="connsiteY1" fmla="*/ 1268263 h 2105341"/>
              <a:gd name="connisteX2" fmla="*/ 4578345 w 12191996"/>
              <a:gd name="connsiteY2" fmla="*/ 1876714 h 2105341"/>
              <a:gd name="connisteX3" fmla="*/ 12191996 w 12191996"/>
              <a:gd name="connsiteY3" fmla="*/ 0 h 2105341"/>
              <a:gd name="connisteX4" fmla="*/ 12191996 w 12191996"/>
              <a:gd name="connsiteY4" fmla="*/ 594990 h 2105341"/>
              <a:gd name="connisteX5" fmla="*/ 5251454 w 12191996"/>
              <a:gd name="connsiteY5" fmla="*/ 2105341 h 2105341"/>
              <a:gd name="connisteX6" fmla="*/ 0 w 12191996"/>
              <a:gd name="connsiteY6" fmla="*/ 1290547 h 210534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2191997" h="2105342">
                <a:moveTo>
                  <a:pt x="0" y="1290548"/>
                </a:moveTo>
                <a:lnTo>
                  <a:pt x="0" y="1268264"/>
                </a:lnTo>
                <a:cubicBezTo>
                  <a:pt x="1391845" y="1658758"/>
                  <a:pt x="2943006" y="1876715"/>
                  <a:pt x="4578346" y="1876715"/>
                </a:cubicBezTo>
                <a:cubicBezTo>
                  <a:pt x="7541642" y="1876715"/>
                  <a:pt x="10228506" y="1161059"/>
                  <a:pt x="12191997" y="0"/>
                </a:cubicBezTo>
                <a:lnTo>
                  <a:pt x="12191997" y="594991"/>
                </a:lnTo>
                <a:cubicBezTo>
                  <a:pt x="10307583" y="1538359"/>
                  <a:pt x="7889023" y="2105342"/>
                  <a:pt x="5251454" y="2105342"/>
                </a:cubicBezTo>
                <a:cubicBezTo>
                  <a:pt x="3347298" y="2105342"/>
                  <a:pt x="1557287" y="1809835"/>
                  <a:pt x="0" y="1290548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 userDrawn="1"/>
        </p:nvSpPr>
        <p:spPr>
          <a:xfrm>
            <a:off x="0" y="2931786"/>
            <a:ext cx="12191365" cy="3926840"/>
          </a:xfrm>
          <a:custGeom>
            <a:avLst/>
            <a:gdLst>
              <a:gd name="connisteX0" fmla="*/ 0 w 12191996"/>
              <a:gd name="connsiteY0" fmla="*/ 695556 h 3926214"/>
              <a:gd name="connisteX1" fmla="*/ 0 w 12191996"/>
              <a:gd name="connsiteY1" fmla="*/ 3926205 h 3926214"/>
              <a:gd name="connisteX2" fmla="*/ 12191996 w 12191996"/>
              <a:gd name="connsiteY2" fmla="*/ 3926205 h 3926214"/>
              <a:gd name="connisteX3" fmla="*/ 12191996 w 12191996"/>
              <a:gd name="connsiteY3" fmla="*/ 0 h 3926214"/>
              <a:gd name="connisteX4" fmla="*/ 5251454 w 12191996"/>
              <a:gd name="connsiteY4" fmla="*/ 1510351 h 3926214"/>
              <a:gd name="connisteX5" fmla="*/ 0 w 12191996"/>
              <a:gd name="connsiteY5" fmla="*/ 695556 h 392621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2191997" h="3926214">
                <a:moveTo>
                  <a:pt x="0" y="695557"/>
                </a:moveTo>
                <a:lnTo>
                  <a:pt x="0" y="3926205"/>
                </a:lnTo>
                <a:lnTo>
                  <a:pt x="12191997" y="3926205"/>
                </a:lnTo>
                <a:lnTo>
                  <a:pt x="12191997" y="0"/>
                </a:lnTo>
                <a:cubicBezTo>
                  <a:pt x="10307583" y="943377"/>
                  <a:pt x="7889023" y="1510351"/>
                  <a:pt x="5251454" y="1510351"/>
                </a:cubicBezTo>
                <a:cubicBezTo>
                  <a:pt x="3347298" y="1510351"/>
                  <a:pt x="1557287" y="1214854"/>
                  <a:pt x="0" y="695557"/>
                </a:cubicBezTo>
                <a:close/>
              </a:path>
            </a:pathLst>
          </a:custGeom>
          <a:solidFill>
            <a:schemeClr val="accent3">
              <a:alpha val="90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3" hasCustomPrompt="1"/>
          </p:nvPr>
        </p:nvSpPr>
        <p:spPr>
          <a:xfrm>
            <a:off x="8305797" y="419097"/>
            <a:ext cx="3378196" cy="457200"/>
          </a:xfrm>
          <a:noFill/>
        </p:spPr>
        <p:txBody>
          <a:bodyPr lIns="0" tIns="0" rIns="0" bIns="0" anchor="t">
            <a:noAutofit/>
          </a:bodyPr>
          <a:lstStyle>
            <a:lvl1pPr algn="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4" hasCustomPrompt="1"/>
          </p:nvPr>
        </p:nvSpPr>
        <p:spPr>
          <a:xfrm>
            <a:off x="761997" y="5981703"/>
            <a:ext cx="10629900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50000"/>
              </a:lnSpc>
              <a:buNone/>
              <a:defRPr sz="2000" b="0">
                <a:solidFill>
                  <a:schemeClr val="bg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  <p:sp>
        <p:nvSpPr>
          <p:cNvPr id="9" name="标题 8"/>
          <p:cNvSpPr>
            <a:spLocks noGrp="1"/>
          </p:cNvSpPr>
          <p:nvPr>
            <p:ph type="ctrTitle" idx="15" hasCustomPrompt="1"/>
          </p:nvPr>
        </p:nvSpPr>
        <p:spPr>
          <a:xfrm>
            <a:off x="761997" y="4965704"/>
            <a:ext cx="10756901" cy="1015999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1000"/>
              </a:lnSpc>
              <a:buNone/>
              <a:defRPr sz="6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mtClean="0"/>
              <a:t>投资理财项目汇报通用模板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/private/var/folders/y9/jtrm72c94tq2wcj68hk011w00000gn/T/com.kingsoft.wpsoffice.mac/figmazip/slide_ef8d3f5e025df0a0/datas/氛围图-10001&amp;65304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/>
        </p:nvSpPr>
        <p:spPr>
          <a:xfrm rot="10800000" flipV="1">
            <a:off x="0" y="3185788"/>
            <a:ext cx="12191365" cy="3672840"/>
          </a:xfrm>
          <a:custGeom>
            <a:avLst/>
            <a:gdLst>
              <a:gd name="connisteX0" fmla="*/ 0 w 12191996"/>
              <a:gd name="connsiteY0" fmla="*/ 695556 h 3672212"/>
              <a:gd name="connisteX1" fmla="*/ 0 w 12191996"/>
              <a:gd name="connsiteY1" fmla="*/ 3672202 h 3672212"/>
              <a:gd name="connisteX2" fmla="*/ 12191996 w 12191996"/>
              <a:gd name="connsiteY2" fmla="*/ 3672202 h 3672212"/>
              <a:gd name="connisteX3" fmla="*/ 12191996 w 12191996"/>
              <a:gd name="connsiteY3" fmla="*/ 0 h 3672212"/>
              <a:gd name="connisteX4" fmla="*/ 5251454 w 12191996"/>
              <a:gd name="connsiteY4" fmla="*/ 1510351 h 3672212"/>
              <a:gd name="connisteX5" fmla="*/ 0 w 12191996"/>
              <a:gd name="connsiteY5" fmla="*/ 695556 h 367221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2191997" h="3672212">
                <a:moveTo>
                  <a:pt x="0" y="695557"/>
                </a:moveTo>
                <a:lnTo>
                  <a:pt x="0" y="3672203"/>
                </a:lnTo>
                <a:lnTo>
                  <a:pt x="12191997" y="3672203"/>
                </a:lnTo>
                <a:lnTo>
                  <a:pt x="12191997" y="0"/>
                </a:lnTo>
                <a:cubicBezTo>
                  <a:pt x="10307583" y="943377"/>
                  <a:pt x="7889023" y="1510351"/>
                  <a:pt x="5251454" y="1510351"/>
                </a:cubicBezTo>
                <a:cubicBezTo>
                  <a:pt x="3347298" y="1510351"/>
                  <a:pt x="1557287" y="1214854"/>
                  <a:pt x="0" y="695557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2654302"/>
            <a:ext cx="11366500" cy="2041525"/>
          </a:xfrm>
          <a:custGeom>
            <a:avLst/>
            <a:gdLst>
              <a:gd name="connisteX0" fmla="*/ 11366686 w 11366686"/>
              <a:gd name="connsiteY0" fmla="*/ 1475228 h 2041836"/>
              <a:gd name="connisteX1" fmla="*/ 7613651 w 11366686"/>
              <a:gd name="connsiteY1" fmla="*/ 1876714 h 2041836"/>
              <a:gd name="connisteX2" fmla="*/ 0 w 11366686"/>
              <a:gd name="connsiteY2" fmla="*/ 0 h 2041836"/>
              <a:gd name="connisteX3" fmla="*/ 0 w 11366686"/>
              <a:gd name="connsiteY3" fmla="*/ 531485 h 2041836"/>
              <a:gd name="connisteX4" fmla="*/ 6940552 w 11366686"/>
              <a:gd name="connsiteY4" fmla="*/ 2041846 h 2041836"/>
              <a:gd name="connisteX5" fmla="*/ 11366686 w 11366686"/>
              <a:gd name="connsiteY5" fmla="*/ 1475228 h 204183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1366687" h="2041837">
                <a:moveTo>
                  <a:pt x="11366687" y="1475229"/>
                </a:moveTo>
                <a:cubicBezTo>
                  <a:pt x="10196703" y="1734946"/>
                  <a:pt x="8932554" y="1876715"/>
                  <a:pt x="7613651" y="1876715"/>
                </a:cubicBezTo>
                <a:cubicBezTo>
                  <a:pt x="4650355" y="1876715"/>
                  <a:pt x="1963500" y="1161059"/>
                  <a:pt x="0" y="0"/>
                </a:cubicBezTo>
                <a:lnTo>
                  <a:pt x="0" y="531486"/>
                </a:lnTo>
                <a:cubicBezTo>
                  <a:pt x="1884414" y="1474863"/>
                  <a:pt x="4302974" y="2041846"/>
                  <a:pt x="6940552" y="2041846"/>
                </a:cubicBezTo>
                <a:cubicBezTo>
                  <a:pt x="8516530" y="2041846"/>
                  <a:pt x="10014317" y="1839416"/>
                  <a:pt x="11366687" y="1475229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任意多边形 10"/>
          <p:cNvSpPr/>
          <p:nvPr userDrawn="1"/>
        </p:nvSpPr>
        <p:spPr>
          <a:xfrm>
            <a:off x="3263896" y="2628900"/>
            <a:ext cx="1612900" cy="25400"/>
          </a:xfrm>
          <a:custGeom>
            <a:avLst/>
            <a:gdLst>
              <a:gd name="connisteX0" fmla="*/ 0 w 1612901"/>
              <a:gd name="connsiteY0" fmla="*/ 0 h 25402"/>
              <a:gd name="connisteX1" fmla="*/ 1612901 w 1612901"/>
              <a:gd name="connsiteY1" fmla="*/ 0 h 25402"/>
              <a:gd name="connisteX2" fmla="*/ 1612901 w 1612901"/>
              <a:gd name="connsiteY2" fmla="*/ 25402 h 25402"/>
              <a:gd name="connisteX3" fmla="*/ 0 w 1612901"/>
              <a:gd name="connsiteY3" fmla="*/ 25402 h 25402"/>
              <a:gd name="connisteX4" fmla="*/ 0 w 1612901"/>
              <a:gd name="connsiteY4" fmla="*/ 0 h 254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612901" h="25402">
                <a:moveTo>
                  <a:pt x="0" y="0"/>
                </a:moveTo>
                <a:lnTo>
                  <a:pt x="1612901" y="0"/>
                </a:lnTo>
                <a:lnTo>
                  <a:pt x="1612901" y="25402"/>
                </a:lnTo>
                <a:lnTo>
                  <a:pt x="0" y="2540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任意多边形 12"/>
          <p:cNvSpPr/>
          <p:nvPr userDrawn="1"/>
        </p:nvSpPr>
        <p:spPr>
          <a:xfrm>
            <a:off x="7315200" y="2628900"/>
            <a:ext cx="1612900" cy="25400"/>
          </a:xfrm>
          <a:custGeom>
            <a:avLst/>
            <a:gdLst>
              <a:gd name="connisteX0" fmla="*/ 0 w 1612901"/>
              <a:gd name="connsiteY0" fmla="*/ 0 h 25402"/>
              <a:gd name="connisteX1" fmla="*/ 1612901 w 1612901"/>
              <a:gd name="connsiteY1" fmla="*/ 0 h 25402"/>
              <a:gd name="connisteX2" fmla="*/ 1612901 w 1612901"/>
              <a:gd name="connsiteY2" fmla="*/ 25402 h 25402"/>
              <a:gd name="connisteX3" fmla="*/ 0 w 1612901"/>
              <a:gd name="connsiteY3" fmla="*/ 25402 h 25402"/>
              <a:gd name="connisteX4" fmla="*/ 0 w 1612901"/>
              <a:gd name="connsiteY4" fmla="*/ 0 h 254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612901" h="25402">
                <a:moveTo>
                  <a:pt x="0" y="0"/>
                </a:moveTo>
                <a:lnTo>
                  <a:pt x="1612901" y="0"/>
                </a:lnTo>
                <a:lnTo>
                  <a:pt x="1612901" y="25402"/>
                </a:lnTo>
                <a:lnTo>
                  <a:pt x="0" y="2540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ctrTitle" idx="13" hasCustomPrompt="1"/>
          </p:nvPr>
        </p:nvSpPr>
        <p:spPr>
          <a:xfrm>
            <a:off x="533397" y="5029200"/>
            <a:ext cx="11125203" cy="1219197"/>
          </a:xfrm>
          <a:noFill/>
        </p:spPr>
        <p:txBody>
          <a:bodyPr lIns="0" tIns="0" rIns="0" bIns="0" anchor="ctr">
            <a:noAutofit/>
          </a:bodyPr>
          <a:lstStyle>
            <a:lvl1pPr algn="ctr">
              <a:lnSpc>
                <a:spcPct val="104000"/>
              </a:lnSpc>
              <a:buNone/>
              <a:defRPr sz="4800" b="0">
                <a:solidFill>
                  <a:schemeClr val="accent3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</a:lstStyle>
          <a:p>
            <a:r>
              <a:rPr lang="zh-CN" altLang="en-US" smtClean="0"/>
              <a:t>章节页的标题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4" hasCustomPrompt="1"/>
          </p:nvPr>
        </p:nvSpPr>
        <p:spPr>
          <a:xfrm>
            <a:off x="4911727" y="1691878"/>
            <a:ext cx="2368552" cy="1767563"/>
          </a:xfrm>
          <a:noFill/>
        </p:spPr>
        <p:txBody>
          <a:bodyPr lIns="0" tIns="0" rIns="0" bIns="0" anchor="ctr">
            <a:noAutofit/>
          </a:bodyPr>
          <a:lstStyle>
            <a:lvl1pPr algn="ctr">
              <a:lnSpc>
                <a:spcPct val="109000"/>
              </a:lnSpc>
              <a:buNone/>
              <a:defRPr sz="10600" b="0">
                <a:solidFill>
                  <a:schemeClr val="bg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/private/var/folders/y9/jtrm72c94tq2wcj68hk011w00000gn/T/com.kingsoft.wpsoffice.mac/figmazip/slide_edae9ec353d2e1cd/datas/氛围图-10001&amp;65320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/>
        </p:nvSpPr>
        <p:spPr>
          <a:xfrm>
            <a:off x="0" y="3619497"/>
            <a:ext cx="12191365" cy="2108835"/>
          </a:xfrm>
          <a:custGeom>
            <a:avLst/>
            <a:gdLst>
              <a:gd name="connisteX0" fmla="*/ 0 w 12191996"/>
              <a:gd name="connsiteY0" fmla="*/ 1292303 h 2108204"/>
              <a:gd name="connisteX1" fmla="*/ 0 w 12191996"/>
              <a:gd name="connsiteY1" fmla="*/ 1269982 h 2108204"/>
              <a:gd name="connisteX2" fmla="*/ 4578345 w 12191996"/>
              <a:gd name="connsiteY2" fmla="*/ 1879256 h 2108204"/>
              <a:gd name="connisteX3" fmla="*/ 12191996 w 12191996"/>
              <a:gd name="connsiteY3" fmla="*/ 0 h 2108204"/>
              <a:gd name="connisteX4" fmla="*/ 12191996 w 12191996"/>
              <a:gd name="connsiteY4" fmla="*/ 595795 h 2108204"/>
              <a:gd name="connisteX5" fmla="*/ 5251454 w 12191996"/>
              <a:gd name="connsiteY5" fmla="*/ 2108204 h 2108204"/>
              <a:gd name="connisteX6" fmla="*/ 0 w 12191996"/>
              <a:gd name="connsiteY6" fmla="*/ 1292303 h 21082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2191997" h="2108204">
                <a:moveTo>
                  <a:pt x="0" y="1292303"/>
                </a:moveTo>
                <a:lnTo>
                  <a:pt x="0" y="1269983"/>
                </a:lnTo>
                <a:cubicBezTo>
                  <a:pt x="1391845" y="1661008"/>
                  <a:pt x="2943006" y="1879257"/>
                  <a:pt x="4578346" y="1879257"/>
                </a:cubicBezTo>
                <a:cubicBezTo>
                  <a:pt x="7541642" y="1879257"/>
                  <a:pt x="10228506" y="1162641"/>
                  <a:pt x="12191997" y="0"/>
                </a:cubicBezTo>
                <a:lnTo>
                  <a:pt x="12191997" y="595796"/>
                </a:lnTo>
                <a:cubicBezTo>
                  <a:pt x="10307583" y="1540462"/>
                  <a:pt x="7889023" y="2108204"/>
                  <a:pt x="5251454" y="2108204"/>
                </a:cubicBezTo>
                <a:cubicBezTo>
                  <a:pt x="3347298" y="2108204"/>
                  <a:pt x="1557287" y="1812304"/>
                  <a:pt x="0" y="129230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4203698"/>
            <a:ext cx="12191365" cy="2654935"/>
          </a:xfrm>
          <a:custGeom>
            <a:avLst/>
            <a:gdLst>
              <a:gd name="connisteX0" fmla="*/ 0 w 12191996"/>
              <a:gd name="connsiteY0" fmla="*/ 695318 h 2654302"/>
              <a:gd name="connisteX1" fmla="*/ 0 w 12191996"/>
              <a:gd name="connsiteY1" fmla="*/ 2654302 h 2654302"/>
              <a:gd name="connisteX2" fmla="*/ 12191996 w 12191996"/>
              <a:gd name="connsiteY2" fmla="*/ 2654302 h 2654302"/>
              <a:gd name="connisteX3" fmla="*/ 12191996 w 12191996"/>
              <a:gd name="connsiteY3" fmla="*/ 0 h 2654302"/>
              <a:gd name="connisteX4" fmla="*/ 5251454 w 12191996"/>
              <a:gd name="connsiteY4" fmla="*/ 1509829 h 2654302"/>
              <a:gd name="connisteX5" fmla="*/ 0 w 12191996"/>
              <a:gd name="connsiteY5" fmla="*/ 695318 h 26543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2191997" h="2654302">
                <a:moveTo>
                  <a:pt x="0" y="695319"/>
                </a:moveTo>
                <a:lnTo>
                  <a:pt x="0" y="2654302"/>
                </a:lnTo>
                <a:lnTo>
                  <a:pt x="12191997" y="2654302"/>
                </a:lnTo>
                <a:lnTo>
                  <a:pt x="12191997" y="0"/>
                </a:lnTo>
                <a:cubicBezTo>
                  <a:pt x="10307583" y="943048"/>
                  <a:pt x="7889023" y="1509830"/>
                  <a:pt x="5251454" y="1509830"/>
                </a:cubicBezTo>
                <a:cubicBezTo>
                  <a:pt x="3347298" y="1509830"/>
                  <a:pt x="1557287" y="1214433"/>
                  <a:pt x="0" y="695319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副标题 9"/>
          <p:cNvSpPr>
            <a:spLocks noGrp="1"/>
          </p:cNvSpPr>
          <p:nvPr>
            <p:ph type="subTitle" idx="13" hasCustomPrompt="1"/>
          </p:nvPr>
        </p:nvSpPr>
        <p:spPr>
          <a:xfrm>
            <a:off x="3327401" y="2146298"/>
            <a:ext cx="5524503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THE END</a:t>
            </a:r>
            <a:endParaRPr lang="zh-CN" altLang="en-US" smtClean="0"/>
          </a:p>
        </p:txBody>
      </p:sp>
      <p:sp>
        <p:nvSpPr>
          <p:cNvPr id="11" name="标题 10"/>
          <p:cNvSpPr>
            <a:spLocks noGrp="1"/>
          </p:cNvSpPr>
          <p:nvPr>
            <p:ph type="ctrTitle" idx="14" hasCustomPrompt="1"/>
          </p:nvPr>
        </p:nvSpPr>
        <p:spPr>
          <a:xfrm>
            <a:off x="3263896" y="2603498"/>
            <a:ext cx="5651504" cy="1015999"/>
          </a:xfrm>
          <a:noFill/>
        </p:spPr>
        <p:txBody>
          <a:bodyPr lIns="0" tIns="0" rIns="0" bIns="0" anchor="t">
            <a:noAutofit/>
          </a:bodyPr>
          <a:lstStyle>
            <a:lvl1pPr algn="ctr">
              <a:lnSpc>
                <a:spcPct val="104000"/>
              </a:lnSpc>
              <a:buNone/>
              <a:defRPr sz="6400" b="1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</a:lstStyle>
          <a:p>
            <a:r>
              <a:rPr lang="zh-CN" altLang="en-US" smtClean="0"/>
              <a:t>谢谢观看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-并列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/private/var/folders/y9/jtrm72c94tq2wcj68hk011w00000gn/T/com.kingsoft.wpsoffice.mac/figmazip/slide_b78f75ea7f53d96d/datas/氛围图-10001&amp;65513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任意多边形 7"/>
          <p:cNvSpPr/>
          <p:nvPr userDrawn="1"/>
        </p:nvSpPr>
        <p:spPr>
          <a:xfrm>
            <a:off x="8051804" y="0"/>
            <a:ext cx="4140200" cy="6858000"/>
          </a:xfrm>
          <a:custGeom>
            <a:avLst/>
            <a:gdLst>
              <a:gd name="connisteX0" fmla="*/ 0 w 4140202"/>
              <a:gd name="connsiteY0" fmla="*/ 6858000 h 6858000"/>
              <a:gd name="connisteX1" fmla="*/ 1289 w 4140202"/>
              <a:gd name="connsiteY1" fmla="*/ 6858000 h 6858000"/>
              <a:gd name="connisteX2" fmla="*/ 1572 w 4140202"/>
              <a:gd name="connsiteY2" fmla="*/ 6856006 h 6858000"/>
              <a:gd name="connisteX3" fmla="*/ 4140202 w 4140202"/>
              <a:gd name="connsiteY3" fmla="*/ 441847 h 6858000"/>
              <a:gd name="connisteX4" fmla="*/ 4140202 w 4140202"/>
              <a:gd name="connsiteY4" fmla="*/ 0 h 6858000"/>
              <a:gd name="connisteX5" fmla="*/ 3891823 w 4140202"/>
              <a:gd name="connsiteY5" fmla="*/ 0 h 6858000"/>
              <a:gd name="connisteX6" fmla="*/ 0 w 4140202"/>
              <a:gd name="connsiteY6" fmla="*/ 685800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140202" h="6858000">
                <a:moveTo>
                  <a:pt x="0" y="6858000"/>
                </a:moveTo>
                <a:lnTo>
                  <a:pt x="1289" y="6858000"/>
                </a:lnTo>
                <a:cubicBezTo>
                  <a:pt x="1381" y="6857342"/>
                  <a:pt x="1481" y="6856683"/>
                  <a:pt x="1573" y="6856007"/>
                </a:cubicBezTo>
                <a:cubicBezTo>
                  <a:pt x="427180" y="3898554"/>
                  <a:pt x="2023494" y="1478256"/>
                  <a:pt x="4140202" y="441847"/>
                </a:cubicBezTo>
                <a:lnTo>
                  <a:pt x="4140202" y="0"/>
                </a:lnTo>
                <a:lnTo>
                  <a:pt x="3891824" y="0"/>
                </a:lnTo>
                <a:cubicBezTo>
                  <a:pt x="1774192" y="1216563"/>
                  <a:pt x="245708" y="3796241"/>
                  <a:pt x="0" y="685800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/private/var/folders/y9/jtrm72c94tq2wcj68hk011w00000gn/T/com.kingsoft.wpsoffice.mac/figmazip/slide_b78f75ea7f53d96d/datas/装饰-10001&amp;65476.png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053070" y="441325"/>
            <a:ext cx="4138295" cy="641604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3" hasCustomPrompt="1"/>
          </p:nvPr>
        </p:nvSpPr>
        <p:spPr>
          <a:xfrm>
            <a:off x="609603" y="1282702"/>
            <a:ext cx="2260598" cy="761997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4000"/>
              </a:lnSpc>
              <a:buNone/>
              <a:defRPr sz="4400" b="1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</a:lstStyle>
          <a:p>
            <a:r>
              <a:rPr lang="zh-CN" altLang="en-US" smtClean="0"/>
              <a:t>目录</a:t>
            </a:r>
            <a:endParaRPr lang="zh-CN" altLang="en-US" smtClean="0"/>
          </a:p>
        </p:txBody>
      </p:sp>
      <p:sp>
        <p:nvSpPr>
          <p:cNvPr id="7" name="副标题 6"/>
          <p:cNvSpPr>
            <a:spLocks noGrp="1"/>
          </p:cNvSpPr>
          <p:nvPr>
            <p:ph type="subTitle" idx="14" hasCustomPrompt="1"/>
          </p:nvPr>
        </p:nvSpPr>
        <p:spPr>
          <a:xfrm>
            <a:off x="609603" y="812801"/>
            <a:ext cx="2197102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CONTENTS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hyperlink" Target="https://word2jats.jianglab.work" TargetMode="Externa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02752" y="502920"/>
            <a:ext cx="3374136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sz="24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2026/09/16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4453128"/>
            <a:ext cx="10753344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zh-CN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学术期刊结构化技术创新大赛 · 选题一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5074920"/>
            <a:ext cx="10753344" cy="7223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zh-CN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Word2JATS：面向学术出版的 Word 智能结构化转换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025896"/>
            <a:ext cx="10625328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zh-CN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JiangLab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2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需求分析与问题定义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19072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77924"/>
            <a:ext cx="4462272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需求范围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44622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IMR Press 21 本期刊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71216"/>
            <a:ext cx="4572000" cy="7132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研究论文、综述、社论、病例报告、</a:t>
            </a:r>
          </a:p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读者来信、手术技术等多种文章类型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785615"/>
            <a:ext cx="4562856" cy="2432304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mr-21-templ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67" y="3813048"/>
            <a:ext cx="3962400" cy="237744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5577840" y="1746504"/>
            <a:ext cx="0" cy="4434840"/>
          </a:xfrm>
          <a:prstGeom prst="line">
            <a:avLst/>
          </a:prstGeom>
          <a:ln w="10160">
            <a:solidFill>
              <a:srgbClr val="DAE0E8"/>
            </a:solidFill>
          </a:ln>
          <a:effectLst/>
        </p:spPr>
      </p:cxnSp>
      <p:sp>
        <p:nvSpPr>
          <p:cNvPr id="16" name="Rectangle 15"/>
          <p:cNvSpPr/>
          <p:nvPr/>
        </p:nvSpPr>
        <p:spPr>
          <a:xfrm>
            <a:off x="5925312" y="1719072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677924"/>
            <a:ext cx="5468112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问题定义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240280"/>
            <a:ext cx="5468112" cy="91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4" y="2304288"/>
            <a:ext cx="914400" cy="3657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输入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2304288"/>
            <a:ext cx="4416552" cy="4023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sz="24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Word 文档（.docx）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59368" y="2834640"/>
            <a:ext cx="0" cy="329184"/>
          </a:xfrm>
          <a:prstGeom prst="line">
            <a:avLst/>
          </a:prstGeom>
          <a:ln w="2032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6089904" y="3383280"/>
            <a:ext cx="914400" cy="3657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3337560"/>
            <a:ext cx="4416552" cy="932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JATS 1.3 XML</a:t>
            </a:r>
          </a:p>
          <a:p>
            <a:pPr algn="l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＋ 附属资源包（ZIP）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4599432"/>
            <a:ext cx="5449824" cy="0"/>
          </a:xfrm>
          <a:prstGeom prst="line">
            <a:avLst/>
          </a:prstGeom>
          <a:ln w="16510">
            <a:solidFill>
              <a:srgbClr val="F2AD00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089904" y="4855464"/>
            <a:ext cx="5394960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转换要求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904" y="5431536"/>
            <a:ext cx="5431536" cy="9235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保留原文内容，识别章节与内容对象；</a:t>
            </a:r>
          </a:p>
          <a:p>
            <a:pPr algn="l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建立作者、单位、图表与文献的关联；</a:t>
            </a:r>
          </a:p>
          <a:p>
            <a:pPr algn="l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生成 XML，并配齐附属资源。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3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样例清点与评价依据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3736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6212"/>
            <a:ext cx="3182112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样例组成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58568"/>
            <a:ext cx="3182112" cy="2834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01–05：5 例</a:t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Word 文档＋上线 XML</a:t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/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S01–S05：5 例</a:t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Word 文档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173736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696212"/>
            <a:ext cx="3182112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结构参考构建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258568"/>
            <a:ext cx="3182112" cy="3017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以 Word 原文确定内容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结合 JATS 规范整理结构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标注字段、对象及关联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/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上线 XML 辅助理解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出版标记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5" y="173736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1624" y="1696212"/>
            <a:ext cx="3145536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258568"/>
            <a:ext cx="3145536" cy="3017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按内容与关系匹配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兼容等价的 JATS 表达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/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计算精确率与召回率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另行核对文字、原生公式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及图片资源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1792" y="5404104"/>
            <a:ext cx="10954512" cy="0"/>
          </a:xfrm>
          <a:prstGeom prst="line">
            <a:avLst/>
          </a:prstGeom>
          <a:ln w="12700">
            <a:solidFill>
              <a:srgbClr val="DAE0E8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621792" y="5568696"/>
            <a:ext cx="1645920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035040"/>
            <a:ext cx="1645920" cy="2377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例样例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0592" y="5568696"/>
            <a:ext cx="1645920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0592" y="6035040"/>
            <a:ext cx="1645920" cy="2377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位作者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9392" y="5568696"/>
            <a:ext cx="1645920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167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6035040"/>
            <a:ext cx="1645920" cy="2377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个章节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5568696"/>
            <a:ext cx="1645920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6035040"/>
            <a:ext cx="1645920" cy="2377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幅图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5568696"/>
            <a:ext cx="1645920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6035040"/>
            <a:ext cx="1645920" cy="2377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张表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5568696"/>
            <a:ext cx="1645920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525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5792" y="6035040"/>
            <a:ext cx="1645920" cy="2377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条参考文献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4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技术选型：三类转换方案的比较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353312"/>
            <a:ext cx="10954512" cy="3383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大语言模型（LLM）用于理解上下文、识别内容角色与关系。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" y="1865376"/>
          <a:ext cx="10954512" cy="3538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/>
                <a:gridCol w="3200400"/>
                <a:gridCol w="3200400"/>
                <a:gridCol w="3200400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比较项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规则驱动转换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大模型辅助转换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智能体自主转换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</a:tr>
              <a:tr h="75895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处理方式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正则匹配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模板映射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程序编排，LLM 识别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程序生成 JATS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LLM 规划步骤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并调用工具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主要优势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处理快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资源消耗低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上下文识别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与流程控制相结合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流程灵活，易拓展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可自主调整处理步骤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主要代价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依赖领域规则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体例变化难维护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控制识别误差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与调用耗时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多轮调用，耗时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与资源更难预估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适用特点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格式约束明确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体例稳定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内容类别明确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排版写法多样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处理步骤不确定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需要探索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21792" y="5614416"/>
            <a:ext cx="50292" cy="512064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5596128"/>
            <a:ext cx="10652760" cy="3657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本项目选择：大模型辅助转换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6016752"/>
            <a:ext cx="10652760" cy="2651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LLM 判断角色与关联，程序解析原稿、组织任务并生成 JATS XML。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5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总体流程：从 Word 解析到 JATS 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92224"/>
            <a:ext cx="1993392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程序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240280"/>
            <a:ext cx="1993392" cy="2496312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240280"/>
            <a:ext cx="1993392" cy="41148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578608"/>
            <a:ext cx="1755648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Word 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337560"/>
            <a:ext cx="1810512" cy="9875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文字、样式与编号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表格、图片与公式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记录原稿位置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42616" y="3337560"/>
            <a:ext cx="182880" cy="0"/>
          </a:xfrm>
          <a:prstGeom prst="line">
            <a:avLst/>
          </a:prstGeom>
          <a:ln w="1905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2862072" y="1792224"/>
            <a:ext cx="1993392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62072" y="2240280"/>
            <a:ext cx="1993392" cy="2496312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62072" y="2240280"/>
            <a:ext cx="1993392" cy="41148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80944" y="2578608"/>
            <a:ext cx="1755648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语义识别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3512" y="3337560"/>
            <a:ext cx="1810512" cy="9875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文首与正文层级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图表、文献及引文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识别角色与关系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82896" y="3337560"/>
            <a:ext cx="182880" cy="0"/>
          </a:xfrm>
          <a:prstGeom prst="line">
            <a:avLst/>
          </a:prstGeom>
          <a:ln w="1905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5102352" y="1792224"/>
            <a:ext cx="1993392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程序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02352" y="2240280"/>
            <a:ext cx="1993392" cy="2496312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02352" y="2240280"/>
            <a:ext cx="1993392" cy="41148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21224" y="2578608"/>
            <a:ext cx="1755648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定位与组装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792" y="3337560"/>
            <a:ext cx="1810512" cy="9875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定位原文范围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组织章节与对象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连接引用关系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23176" y="3337560"/>
            <a:ext cx="182880" cy="0"/>
          </a:xfrm>
          <a:prstGeom prst="line">
            <a:avLst/>
          </a:prstGeom>
          <a:ln w="1905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7342632" y="1792224"/>
            <a:ext cx="1993392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程序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42632" y="2240280"/>
            <a:ext cx="1993392" cy="2496312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2" y="2240280"/>
            <a:ext cx="1993392" cy="41148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4" y="2578608"/>
            <a:ext cx="1755648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JATS 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4072" y="3337560"/>
            <a:ext cx="1810512" cy="9875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生成 XML 与媒体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核对格式与引用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检查内容及资源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3456" y="3337560"/>
            <a:ext cx="182880" cy="0"/>
          </a:xfrm>
          <a:prstGeom prst="line">
            <a:avLst/>
          </a:prstGeom>
          <a:ln w="1905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9582912" y="1792224"/>
            <a:ext cx="1993392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网页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82912" y="2240280"/>
            <a:ext cx="1993392" cy="2496312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82912" y="2240280"/>
            <a:ext cx="1993392" cy="41148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01784" y="2578608"/>
            <a:ext cx="1755648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校订与下载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4352" y="3337560"/>
            <a:ext cx="1810512" cy="9875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预览与原稿对照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修改文章出版信息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下载转换成果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618488" y="4791456"/>
            <a:ext cx="0" cy="420624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1618488" y="5212080"/>
            <a:ext cx="4480560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6099048" y="4791456"/>
            <a:ext cx="0" cy="420624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2340864" y="5349240"/>
            <a:ext cx="4791456" cy="3383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原文与资源直接进入组装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5925312"/>
            <a:ext cx="10954512" cy="3291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文首题名、作者及机构信息：限定原稿区域生成局部 JATS，并作专门校验。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6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核心方法：LLM 识别结构，程序取回原文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847088"/>
            <a:ext cx="2907792" cy="3017520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847088"/>
            <a:ext cx="2907792" cy="466344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01952"/>
            <a:ext cx="2615184" cy="2926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原文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847088"/>
            <a:ext cx="3182112" cy="3017520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9039" y="1847088"/>
            <a:ext cx="3182112" cy="466344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95344" y="1901952"/>
            <a:ext cx="2889504" cy="2926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LLM 识别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50608" y="1847088"/>
            <a:ext cx="4425696" cy="3017520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50608" y="1847088"/>
            <a:ext cx="4425696" cy="466344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901952"/>
            <a:ext cx="4133087" cy="2926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程序组装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816352"/>
            <a:ext cx="2505456" cy="10515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25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2. Materials</a:t>
            </a:r>
          </a:p>
          <a:p>
            <a:pPr algn="l">
              <a:lnSpc>
                <a:spcPts val="3125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and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41063" y="2688336"/>
            <a:ext cx="2816352" cy="1335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角色：章节标题</a:t>
            </a:r>
          </a:p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位置：doc/p30</a:t>
            </a:r>
          </a:p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原文片段：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41063" y="4133087"/>
            <a:ext cx="2843784" cy="3383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2. Materials and 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2606040"/>
            <a:ext cx="4069080" cy="1901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&lt;sec id="S2"&gt;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  &lt;title&gt;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    2. Materials and Methods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  &lt;/title&gt;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  &lt;p&gt;……&lt;/p&gt;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&lt;/sec&gt;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312664"/>
            <a:ext cx="10954512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sz="24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精确匹配   →   表示差异归一化   →   上下文与顺序消歧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879592"/>
            <a:ext cx="10954512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01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依据原稿位置取回标题、正文与文献字段，保留文字、行内格式及来源位置。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7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图表、公式与参考文献的转换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" y="1746504"/>
          <a:ext cx="10954512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28"/>
                <a:gridCol w="5687568"/>
                <a:gridCol w="3328416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内容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处理方法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输出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</a:tr>
              <a:tr h="566928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原生表格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读取行列与合并关系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JATS 表格网格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文本排表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将原文片段分配到对应单元格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JATS 表格网格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图片与复合图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保留资源，关联图号、图注与子图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图对象与配套图片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数学公式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原生公式转 MathML；图像或复杂排版</a:t>
                      </a:r>
                    </a:p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公式保留可读载体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行内、行间公式及编号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参考文献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识别条目边界，再提取著录字段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结构化或混合著录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正文引用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按编号或作者—年份匹配目标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连接文献、图表的引用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8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文档切分与并行调度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73936" y="3172968"/>
            <a:ext cx="182880" cy="0"/>
          </a:xfrm>
          <a:prstGeom prst="line">
            <a:avLst/>
          </a:prstGeom>
          <a:ln w="15875">
            <a:solidFill>
              <a:srgbClr val="193B67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956816" y="2048256"/>
            <a:ext cx="0" cy="3227832"/>
          </a:xfrm>
          <a:prstGeom prst="line">
            <a:avLst/>
          </a:prstGeom>
          <a:ln w="15875">
            <a:solidFill>
              <a:srgbClr val="193B67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956816" y="2048256"/>
            <a:ext cx="228600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956816" y="3127248"/>
            <a:ext cx="228600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956816" y="4197096"/>
            <a:ext cx="228600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956816" y="5276088"/>
            <a:ext cx="228600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4050791" y="2048256"/>
            <a:ext cx="210313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4261104" y="2048256"/>
            <a:ext cx="0" cy="676656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4261104" y="2724912"/>
            <a:ext cx="256032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4050791" y="3127248"/>
            <a:ext cx="265177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 flipV="1">
            <a:off x="4315968" y="2724912"/>
            <a:ext cx="0" cy="402336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4315968" y="2724912"/>
            <a:ext cx="201168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4050791" y="4197096"/>
            <a:ext cx="338329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 flipV="1">
            <a:off x="4389120" y="2724912"/>
            <a:ext cx="0" cy="1472184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4389120" y="2724912"/>
            <a:ext cx="128016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4050791" y="4197096"/>
            <a:ext cx="201169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4251960" y="4197096"/>
            <a:ext cx="0" cy="301752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4251960" y="4498848"/>
            <a:ext cx="265176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6199632" y="2724912"/>
            <a:ext cx="365760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7333488" y="3127248"/>
            <a:ext cx="0" cy="1655064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6199632" y="4498848"/>
            <a:ext cx="182880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6382512" y="4498848"/>
            <a:ext cx="0" cy="694944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6382512" y="5193792"/>
            <a:ext cx="182880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4050791" y="5276088"/>
            <a:ext cx="2029969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6080760" y="5276088"/>
            <a:ext cx="0" cy="128016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6080760" y="5404104"/>
            <a:ext cx="484632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621792" y="2779776"/>
            <a:ext cx="1152144" cy="786384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2852928"/>
            <a:ext cx="1005840" cy="6400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原稿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记录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85416" y="1664208"/>
            <a:ext cx="186537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76856" y="1755648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文首识别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76856" y="2084832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元信息与摘要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85416" y="2743200"/>
            <a:ext cx="186537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76856" y="2834640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正文识别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76856" y="3163824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角色、层级与图表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85416" y="3813048"/>
            <a:ext cx="186537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76856" y="3904487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文献边界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76856" y="4233672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条目定位与归并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85416" y="4892040"/>
            <a:ext cx="186537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76856" y="4983479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正文引文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76856" y="5312664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位置与目标线索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17136" y="2340864"/>
            <a:ext cx="168249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90288" y="2414016"/>
            <a:ext cx="1536192" cy="6217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内容角色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归并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65392" y="2340864"/>
            <a:ext cx="1536192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38544" y="2414016"/>
            <a:ext cx="1389888" cy="6217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文本表格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恢复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17136" y="4114800"/>
            <a:ext cx="168249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08576" y="4206240"/>
            <a:ext cx="149961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文献字段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08576" y="4535424"/>
            <a:ext cx="149961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各条并行提取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65392" y="4782312"/>
            <a:ext cx="1536192" cy="841248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38544" y="4855464"/>
            <a:ext cx="1389888" cy="6949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最终组装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与检查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476488" y="1719072"/>
            <a:ext cx="0" cy="4178808"/>
          </a:xfrm>
          <a:prstGeom prst="line">
            <a:avLst/>
          </a:prstGeom>
          <a:ln w="12700">
            <a:solidFill>
              <a:srgbClr val="DAE0E8"/>
            </a:solidFill>
          </a:ln>
          <a:effectLst/>
        </p:spPr>
      </p:cxnSp>
      <p:sp>
        <p:nvSpPr>
          <p:cNvPr id="59" name="Rectangle 58"/>
          <p:cNvSpPr/>
          <p:nvPr/>
        </p:nvSpPr>
        <p:spPr>
          <a:xfrm>
            <a:off x="8750808" y="1856231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06256" y="1815084"/>
            <a:ext cx="2633472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长文处理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06256" y="2377440"/>
            <a:ext cx="2633472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按输入预算分窗</a:t>
            </a:r>
          </a:p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保留相邻上下文</a:t>
            </a:r>
          </a:p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按原稿位置归并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50808" y="4032504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06256" y="3991356"/>
            <a:ext cx="2633472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并发控制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06256" y="4553712"/>
            <a:ext cx="2633472" cy="10424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LLM 并发上限：32</a:t>
            </a:r>
          </a:p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异常请求限次重试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9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转换质量：内容、结构与关系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353312"/>
            <a:ext cx="10954512" cy="3383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10 例样例 · 两种大模型配置的分项召回率与完整性检查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" y="1792224"/>
          <a:ext cx="10954512" cy="4524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7104"/>
                <a:gridCol w="2203704"/>
                <a:gridCol w="2203704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评价项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Qwen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DeepSeek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题名、作者及单位关联、通讯信息、ORCID、日期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摘要、关键词、章节及顺序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术语释义与文末声明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图对象、图注、图片归属与图表引用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表对象、表题 / 表注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100% / 93.94%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100% / 93.94%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表格网格位置与内容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77.34%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93.26%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原生公式数学树 / 公式图片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26/26；2/2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26/26；2/2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文献条目 / 文献著录字段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100% / 99.06%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100% / 96.83%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正文—文献引用关系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92.41%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94.12%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全文词项保留率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99.73%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99.71%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JATS DTD 合法文档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10/10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10/10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导出媒体原字节一致性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50/50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50/50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10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转换效率与调用成本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353312"/>
            <a:ext cx="10954512" cy="3383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10 例样例 · Qwen 与 DeepSeek 两种大模型配置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" y="1792224"/>
          <a:ext cx="10954512" cy="4454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224"/>
                <a:gridCol w="2761488"/>
                <a:gridCol w="3200400"/>
                <a:gridCol w="32004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类别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指标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Qwen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DeepSeek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</a:tr>
              <a:tr h="366674">
                <a:tc rowSpan="2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大模型配置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主流程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qwen3.7-plus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deepseek-flash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文首元信息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qwen3.8-max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deepseek-flash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rowSpan="2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转换耗时</a:t>
                      </a:r>
                    </a:p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秒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平均值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135.90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58.27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中位数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92.31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27.34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rowSpan="5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Token 用量</a:t>
                      </a:r>
                    </a:p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 例合计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输入合计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5,815,531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5,302,342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  其中：缓存命中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2,660,992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5,175,210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  其中：缓存未命中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3,154,539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127,132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输出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928,179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993,918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输入＋输出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6,743,710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6,296,260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rowSpan="2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调用费用</a:t>
                      </a:r>
                    </a:p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元（折算）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篇均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1.1839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0.8413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 例合计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11.8391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8.4126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11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原稿对照与信息校订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673352"/>
            <a:ext cx="7735824" cy="4562856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product-publ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" y="1976231"/>
            <a:ext cx="7671816" cy="395709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741664" y="182880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7112" y="1787652"/>
            <a:ext cx="2624328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预览与定位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7112" y="2350008"/>
            <a:ext cx="2624328" cy="969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按章节、图表、公式</a:t>
            </a:r>
          </a:p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和文献浏览结果，</a:t>
            </a:r>
          </a:p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查看引用目标。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41664" y="3346703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7112" y="3305556"/>
            <a:ext cx="2624328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对照与修改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3867911"/>
            <a:ext cx="2624328" cy="969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对照 Word 原稿，</a:t>
            </a:r>
          </a:p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修改题名、作者与机构，</a:t>
            </a:r>
          </a:p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补充期刊和 DOI。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41664" y="484632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7112" y="4805172"/>
            <a:ext cx="2624328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保存与交付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5367527"/>
            <a:ext cx="2624328" cy="969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修改写入 XML；</a:t>
            </a:r>
          </a:p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重新检查，预览与</a:t>
            </a:r>
          </a:p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下载同步更新。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12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在线演示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09928"/>
            <a:ext cx="10954512" cy="7132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955"/>
              </a:lnSpc>
              <a:spcBef>
                <a:spcPts val="0"/>
              </a:spcBef>
              <a:spcAft>
                <a:spcPts val="0"/>
              </a:spcAft>
            </a:pPr>
            <a:r>
              <a:rPr sz="42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Word2JATS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916936"/>
            <a:ext cx="502920" cy="4023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" y="2880360"/>
            <a:ext cx="1965960" cy="4206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上传 Word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54096" y="3127248"/>
            <a:ext cx="283464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3456432" y="2916936"/>
            <a:ext cx="502920" cy="4023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880360"/>
            <a:ext cx="1965960" cy="4206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转换与预览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88736" y="3127248"/>
            <a:ext cx="283464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6291072" y="2916936"/>
            <a:ext cx="502920" cy="4023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144" y="2880360"/>
            <a:ext cx="1965960" cy="4206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对照与校订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23376" y="3127248"/>
            <a:ext cx="283464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9125712" y="2916936"/>
            <a:ext cx="502920" cy="4023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1784" y="2880360"/>
            <a:ext cx="1965960" cy="4206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下载成果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" y="3767328"/>
            <a:ext cx="10954512" cy="0"/>
          </a:xfrm>
          <a:prstGeom prst="line">
            <a:avLst/>
          </a:prstGeom>
          <a:ln w="15875">
            <a:solidFill>
              <a:srgbClr val="F2AD00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621792" y="4160520"/>
            <a:ext cx="1920240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交付文件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160520"/>
            <a:ext cx="8823960" cy="4297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JATS XML ＋ 附属资源包（ZIP）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157216"/>
            <a:ext cx="1920240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在线原型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111496"/>
            <a:ext cx="8823960" cy="5577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4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lang="zh-CN">
                <a:solidFill>
                  <a:srgbClr val="193B67"/>
                </a:solidFill>
                <a:latin typeface="Arial"/>
                <a:ea typeface="Microsoft YaHei"/>
                <a:cs typeface="Arial"/>
                <a:hlinkClick r:id="rId3"/>
              </a:rPr>
              <a:t>word2jats.jianglab.work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3"/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</p:nvPr>
        </p:nvSpPr>
        <p:spPr/>
        <p:txBody>
          <a:bodyPr/>
          <a:p>
            <a:r>
              <a:rPr lang="en-US" altLang="en-US" sz="5900"/>
              <a:t>谢谢</a:t>
            </a:r>
            <a:endParaRPr lang="en-US" altLang="en-US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蓝色金融商务风主题">
  <a:themeElements>
    <a:clrScheme name="">
      <a:dk1>
        <a:srgbClr val="000000"/>
      </a:dk1>
      <a:lt1>
        <a:srgbClr val="FFFFFF"/>
      </a:lt1>
      <a:dk2>
        <a:srgbClr val="333638"/>
      </a:dk2>
      <a:lt2>
        <a:srgbClr val="EFEFEF"/>
      </a:lt2>
      <a:accent1>
        <a:srgbClr val="0E3775"/>
      </a:accent1>
      <a:accent2>
        <a:srgbClr val="F1AD00"/>
      </a:accent2>
      <a:accent3>
        <a:srgbClr val="012357"/>
      </a:accent3>
      <a:accent4>
        <a:srgbClr val="FBE6B3"/>
      </a:accent4>
      <a:accent5>
        <a:srgbClr val="643AF8"/>
      </a:accent5>
      <a:accent6>
        <a:srgbClr val="2538D9"/>
      </a:accent6>
      <a:hlink>
        <a:srgbClr val="E28835"/>
      </a:hlink>
      <a:folHlink>
        <a:srgbClr val="9D8874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3142</Words>
  <Application>WPS 演示</Application>
  <PresentationFormat>宽屏</PresentationFormat>
  <Paragraphs>260</Paragraphs>
  <Slides>29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Arial</vt:lpstr>
      <vt:lpstr>宋体</vt:lpstr>
      <vt:lpstr>Wingdings</vt:lpstr>
      <vt:lpstr>Wingdings</vt:lpstr>
      <vt:lpstr>Microsoft YaHei UI</vt:lpstr>
      <vt:lpstr>微软雅黑</vt:lpstr>
      <vt:lpstr>Arial Unicode MS</vt:lpstr>
      <vt:lpstr>苹方-简</vt:lpstr>
      <vt:lpstr>Segoe Print</vt:lpstr>
      <vt:lpstr>苹方护眼艺术黑体</vt:lpstr>
      <vt:lpstr>WPS</vt:lpstr>
      <vt:lpstr>蓝色金融商务风主题</vt:lpstr>
      <vt:lpstr>学术期刊结构化技术创新大赛项目介绍</vt:lpstr>
      <vt:lpstr>目录</vt:lpstr>
      <vt:lpstr>项目背景</vt:lpstr>
      <vt:lpstr>关于IMR</vt:lpstr>
      <vt:lpstr>项目目标</vt:lpstr>
      <vt:lpstr>大赛赛程</vt:lpstr>
      <vt:lpstr>完整时间线</vt:lpstr>
      <vt:lpstr>6月15日前完成报名</vt:lpstr>
      <vt:lpstr>6月16日-17日线上答疑</vt:lpstr>
      <vt:lpstr>7月30日前初赛作品提交</vt:lpstr>
      <vt:lpstr>7月31日-8月6日初赛作品评选</vt:lpstr>
      <vt:lpstr>8月6日-9月6日决赛作品打磨</vt:lpstr>
      <vt:lpstr>9月中旬决赛答辩</vt:lpstr>
      <vt:lpstr>选题详细介绍</vt:lpstr>
      <vt:lpstr>选题一：Word → JATS XML 的语义映射与自动化生成（word2xml）</vt:lpstr>
      <vt:lpstr>选题二：JATS XML → PDF 的自动化映射与生成（xml2pdf）</vt:lpstr>
      <vt:lpstr>参赛注意事项</vt:lpstr>
      <vt:lpstr>技术选型：不限语言和框架，参赛者可自由选择技术栈</vt:lpstr>
      <vt:lpstr>原创性要求：可借鉴开源方案，但核心代码/算法必须为原创</vt:lpstr>
      <vt:lpstr>运行说明：提交作品中必须包含运行说明</vt:lpstr>
      <vt:lpstr>初赛要求：不要求100%实现所有功能，但作品必须可运行并产生输出</vt:lpstr>
      <vt:lpstr>决赛要求：需现场演示，综合以下维度评分</vt:lpstr>
      <vt:lpstr>决赛评审标准</vt:lpstr>
      <vt:lpstr>创新性（30%）：算法创新、模型设计、技术路线新颖度</vt:lpstr>
      <vt:lpstr>落地性（40%）：代码规范、工程结构、运行效率、资源消耗、稳定性</vt:lpstr>
      <vt:lpstr>落地性（40%）：代码规范、工程结构、运行效率、资源消耗、稳定性</vt:lpstr>
      <vt:lpstr>业务适用性（20%）：问题解决完整性、对出版场景的适配能力</vt:lpstr>
      <vt:lpstr>展示度（10%）：现场表现、PPT质量、回答问题准确性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Word2JATS：面向学术出版的 Word 智能结构化转换</dc:title>
  <dc:creator>JiangLab</dc:creator>
  <cp:lastModifiedBy>煎饼</cp:lastModifiedBy>
  <cp:revision>192</cp:revision>
  <dcterms:created xsi:type="dcterms:W3CDTF">2026-06-14T12:48:00Z</dcterms:created>
  <dcterms:modified xsi:type="dcterms:W3CDTF">2026-06-16T01:01:08Z</dcterms:modified>
  <dc:subject>Word 稿件的 JATS 结构化转换</dc:subject>
  <cp:keywords>Word2JATS, JATS, JiangLab</cp:keywords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4BAF61FC79068D924B9D2E6AF807C275_41</vt:lpwstr>
  </property>
</Properties>
</file>